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1: NLP FUNDAMENTALS  |  SLIDE 1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Normalization: Transforming Raw Text into Canonical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[TECHNIQUES]  Core Normalization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Case Folding: </a:t>
            </a:r>
            <a:r>
              <a:rPr b="0" sz="1100">
                <a:solidFill>
                  <a:srgbClr val="334155"/>
                </a:solidFill>
              </a:rPr>
              <a:t>Converting all text to lowercase to prevent vocabulary fragmentation (e.g., 'Model', 'model', 'MODEL' -&gt; 'model').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Noise Removal: </a:t>
            </a:r>
            <a:r>
              <a:rPr b="0" sz="1100">
                <a:solidFill>
                  <a:srgbClr val="334155"/>
                </a:solidFill>
              </a:rPr>
              <a:t>Stripping HTML tags, URLs, special control characters, emojis, and unprintable ASCII codes using regular expressions.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Contraction Expansion: </a:t>
            </a:r>
            <a:r>
              <a:rPr b="0" sz="1100">
                <a:solidFill>
                  <a:srgbClr val="334155"/>
                </a:solidFill>
              </a:rPr>
              <a:t>Restoring colloquial forms into formal equivalents (e.g., "don't" -&gt; "do not", "can't" -&gt; "cannot").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Unicode Normalization: </a:t>
            </a:r>
            <a:r>
              <a:rPr b="0" sz="1100">
                <a:solidFill>
                  <a:srgbClr val="334155"/>
                </a:solidFill>
              </a:rPr>
              <a:t>Applying NFKD/NFC transformations to convert accents and diacritics (e.g., 'café' -&gt; 'cafe', smart quotes to straight quotes).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Special Token Protection: </a:t>
            </a:r>
            <a:r>
              <a:rPr b="0" sz="1100">
                <a:solidFill>
                  <a:srgbClr val="334155"/>
                </a:solidFill>
              </a:rPr>
              <a:t>Preserving domain-specific mathematical or technical tokens (e.g., 'A*', 'C++', 'L1/L2') during symbol sanitization.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[STEMMING VS LEMMA]  Stemming vs. Lemmatization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Stemming Concept: </a:t>
            </a:r>
            <a:r>
              <a:rPr b="0" sz="1100">
                <a:solidFill>
                  <a:srgbClr val="334155"/>
                </a:solidFill>
              </a:rPr>
              <a:t>Crude heuristic rule-based affix chopping that strips word prefixes and suffixes without morphological awareness.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Stemming Examples: </a:t>
            </a:r>
            <a:r>
              <a:rPr b="0" sz="1100">
                <a:solidFill>
                  <a:srgbClr val="334155"/>
                </a:solidFill>
              </a:rPr>
              <a:t>Porter / Lancaster Stemmer: 'studies' -&gt; 'studi', 'meeting' -&gt; 'meet', 'university' -&gt; 'univers' (often non-words).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Lemmatization Concept: </a:t>
            </a:r>
            <a:r>
              <a:rPr b="0" sz="1100">
                <a:solidFill>
                  <a:srgbClr val="334155"/>
                </a:solidFill>
              </a:rPr>
              <a:t>Morphological analysis utilizing vocabulary lookup and Part-of-Speech tags to return true dictionary root forms (lemmas).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Lemmatization Examples: </a:t>
            </a:r>
            <a:r>
              <a:rPr b="0" sz="1100">
                <a:solidFill>
                  <a:srgbClr val="334155"/>
                </a:solidFill>
              </a:rPr>
              <a:t>WordNet Lemmatizer: 'better' (with POS=a) -&gt; 'good', 'saw' (POS=v) -&gt; 'see', 'corpora' -&gt; 'corpus'.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Tradeoff Analysis: </a:t>
            </a:r>
            <a:r>
              <a:rPr b="0" sz="1100">
                <a:solidFill>
                  <a:srgbClr val="334155"/>
                </a:solidFill>
              </a:rPr>
              <a:t>Stemming is extremely fast with low memory overhead; Lemmatization is linguistically accurate but requires lexicon lookup and POS context.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1: NLP FUNDAMENTALS  |  SLIDE 2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Segmentation: Sentence Boundaries and Tokenization Paradigms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[WORD &amp; SENTENCE]  Sentence Segmentation &amp; Word Tokenization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Sentence Boundary Disambiguation (SBD): </a:t>
            </a:r>
            <a:r>
              <a:rPr b="0" sz="1100">
                <a:solidFill>
                  <a:srgbClr val="334155"/>
                </a:solidFill>
              </a:rPr>
              <a:t>Detecting end-of-sentence punctuation ('.', '!', '?') while disambiguating abbreviations (Dr., e.g., U.S.A.) and numerical decimals ($3.50).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Rule-Based Heuristics: </a:t>
            </a:r>
            <a:r>
              <a:rPr b="0" sz="1100">
                <a:solidFill>
                  <a:srgbClr val="334155"/>
                </a:solidFill>
              </a:rPr>
              <a:t>Regular expression lookaheads checking whether a period is followed by whitespace and an uppercase character.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Whitespace &amp; Word Tokenization: </a:t>
            </a:r>
            <a:r>
              <a:rPr b="0" sz="1100">
                <a:solidFill>
                  <a:srgbClr val="334155"/>
                </a:solidFill>
              </a:rPr>
              <a:t>Splitting raw streams into discrete word tokens while preserving compound hyphenated entities ('state-of-the-art', 'decision-tree').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Punctuation Handling: </a:t>
            </a:r>
            <a:r>
              <a:rPr b="0" sz="1100">
                <a:solidFill>
                  <a:srgbClr val="334155"/>
                </a:solidFill>
              </a:rPr>
              <a:t>Isolating punctuation marks as standalone tokens without corrupting contraction clitics (e.g., "they're" -&gt; ["they", "'re"]).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Non-Segmenting Languages: </a:t>
            </a:r>
            <a:r>
              <a:rPr b="0" sz="1100">
                <a:solidFill>
                  <a:srgbClr val="334155"/>
                </a:solidFill>
              </a:rPr>
              <a:t>Languages such as Chinese and Japanese lack explicit whitespace, necessitating dictionary longest-match or character lattice segmentation.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[SUBWORD ALGORITHMS]  Subword Tokenization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Out-of-Vocabulary (OOV) Dilemma: </a:t>
            </a:r>
            <a:r>
              <a:rPr b="0" sz="1100">
                <a:solidFill>
                  <a:srgbClr val="334155"/>
                </a:solidFill>
              </a:rPr>
              <a:t>Traditional word-level vocabularies suffer from huge memory footprints and failure when encountering unseen words.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Byte-Pair Encoding (BPE): </a:t>
            </a:r>
            <a:r>
              <a:rPr b="0" sz="1100">
                <a:solidFill>
                  <a:srgbClr val="334155"/>
                </a:solidFill>
              </a:rPr>
              <a:t>Starts with character alphabet; iteratively counts and merges the most frequent adjacent character pairs (used in GPT-2, RoBERTa).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WordPiece Tokenizer: </a:t>
            </a:r>
            <a:r>
              <a:rPr b="0" sz="1100">
                <a:solidFill>
                  <a:srgbClr val="334155"/>
                </a:solidFill>
              </a:rPr>
              <a:t>Maximizes the language model likelihood when adding merged subwords, using '##' prefixes for continuation tokens (used in BERT).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SentencePiece / Unigram: </a:t>
            </a:r>
            <a:r>
              <a:rPr b="0" sz="1100">
                <a:solidFill>
                  <a:srgbClr val="334155"/>
                </a:solidFill>
              </a:rPr>
              <a:t>Treats whitespace as an ordinary character ('_'), enabling language-independent lossless tokenization without pre-segmentation.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Subword Example: </a:t>
            </a:r>
            <a:r>
              <a:rPr b="0" sz="1100">
                <a:solidFill>
                  <a:srgbClr val="334155"/>
                </a:solidFill>
              </a:rPr>
              <a:t>'unhappiness' -&gt; ['un', '##happi', '##ness']; unseen word 'bioengineering' -&gt; ['bio', '##engineer', '##ing'].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2: LINGUISTIC DATA  |  SLIDE 3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Corpus Foundations: Typologies, Design Principles, and Representativeness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[TYPOLOGY]  Corpus Definition &amp; Core Typologies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Corpus Definition: </a:t>
            </a:r>
            <a:r>
              <a:rPr b="0" sz="1100">
                <a:solidFill>
                  <a:srgbClr val="334155"/>
                </a:solidFill>
              </a:rPr>
              <a:t>A large, curated, machine-readable collection of authentic, structured texts assembled according to rigorous sampling criteria.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Monolingual vs. Multilingual: </a:t>
            </a:r>
            <a:r>
              <a:rPr b="0" sz="1100">
                <a:solidFill>
                  <a:srgbClr val="334155"/>
                </a:solidFill>
              </a:rPr>
              <a:t>Single language (e.g., British National Corpus) vs Parallel aligned sentence pairs (e.g., Europarl for Machine Translation).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Synchronic vs. Diachronic: </a:t>
            </a:r>
            <a:r>
              <a:rPr b="0" sz="1100">
                <a:solidFill>
                  <a:srgbClr val="334155"/>
                </a:solidFill>
              </a:rPr>
              <a:t>Capturing language at a specific slice in time vs tracking linguistic and lexical evolution across historical eras.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Balanced / General Corpora: </a:t>
            </a:r>
            <a:r>
              <a:rPr b="0" sz="1100">
                <a:solidFill>
                  <a:srgbClr val="334155"/>
                </a:solidFill>
              </a:rPr>
              <a:t>Proportionally sampled across diverse genres (news, fiction, academic, spoken, web) to model language generally (e.g., Brown Corpus).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Domain-Specific Corpora: </a:t>
            </a:r>
            <a:r>
              <a:rPr b="0" sz="1100">
                <a:solidFill>
                  <a:srgbClr val="334155"/>
                </a:solidFill>
              </a:rPr>
              <a:t>Targeted collections optimized for niche tasks: PubMed for biomedicine, SEC EDGAR for finance, arXiv for computer science.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[PIPELINE]  Corpus Construction Best Practices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Domain Definition &amp; Scope: </a:t>
            </a:r>
            <a:r>
              <a:rPr b="0" sz="1100">
                <a:solidFill>
                  <a:srgbClr val="334155"/>
                </a:solidFill>
              </a:rPr>
              <a:t>Formulating boundary constraints on document genre, target registers, geographic dialects, and temporal boundaries.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Sampling &amp; Stratification: </a:t>
            </a:r>
            <a:r>
              <a:rPr b="0" sz="1100">
                <a:solidFill>
                  <a:srgbClr val="334155"/>
                </a:solidFill>
              </a:rPr>
              <a:t>Selecting representative texts across publications and authors to prevent over-representation of outlier writing styles.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Deduplication &amp; Hygiene: </a:t>
            </a:r>
            <a:r>
              <a:rPr b="0" sz="1100">
                <a:solidFill>
                  <a:srgbClr val="334155"/>
                </a:solidFill>
              </a:rPr>
              <a:t>MinHash LSH and exact text fingerprinting to remove scraped boilerplate, duplicate articles, and copyright disclaimers.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Metadata Association: </a:t>
            </a:r>
            <a:r>
              <a:rPr b="0" sz="1100">
                <a:solidFill>
                  <a:srgbClr val="334155"/>
                </a:solidFill>
              </a:rPr>
              <a:t>Attaching author, date, source URL, genre, reading grade level, and language tags to every text document.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Legal &amp; Ethical Compliance: </a:t>
            </a:r>
            <a:r>
              <a:rPr b="0" sz="1100">
                <a:solidFill>
                  <a:srgbClr val="334155"/>
                </a:solidFill>
              </a:rPr>
              <a:t>Verifying licensing, fair use exemptions, user privacy scrubbing (PII redaction), and copyright restrictions.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2: LINGUISTIC DATA  |  SLIDE 4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Corpus Annotation Pipelines and Inter-Annotator Agreement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[WORKFLOW]  Annotation Hierarchy &amp;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Annotation Layers: </a:t>
            </a:r>
            <a:r>
              <a:rPr b="0" sz="1100">
                <a:solidFill>
                  <a:srgbClr val="334155"/>
                </a:solidFill>
              </a:rPr>
              <a:t>Enriching raw text across structural strata: POS tags, syntactic parse trees, named entities, coreference, and semantic roles.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Annotation Guidelines: </a:t>
            </a:r>
            <a:r>
              <a:rPr b="0" sz="1100">
                <a:solidFill>
                  <a:srgbClr val="334155"/>
                </a:solidFill>
              </a:rPr>
              <a:t>Comprehensive documentation defining boundary edge cases, disambiguation rules, and operational examples for annotators.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Dual Annotation Workflow: </a:t>
            </a:r>
            <a:r>
              <a:rPr b="0" sz="1100">
                <a:solidFill>
                  <a:srgbClr val="334155"/>
                </a:solidFill>
              </a:rPr>
              <a:t>Independent labeling of the identical text by multiple expert annotators to measure consistency and ambiguity.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Adjudication Process: </a:t>
            </a:r>
            <a:r>
              <a:rPr b="0" sz="1100">
                <a:solidFill>
                  <a:srgbClr val="334155"/>
                </a:solidFill>
              </a:rPr>
              <a:t>A senior linguist or curator resolves conflicts where annotators disagree, finalizing ground-truth benchmark datasets.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Active Learning in Annotation: </a:t>
            </a:r>
            <a:r>
              <a:rPr b="0" sz="1100">
                <a:solidFill>
                  <a:srgbClr val="334155"/>
                </a:solidFill>
              </a:rPr>
              <a:t>Training preliminary models to identify low-confidence examples, prioritizing human labeling where uncertainty is greatest.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[COHEN'S KAPPA]  Inter-Annotator Agreement: Cohen's Kappa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Agreement Objective: </a:t>
            </a:r>
            <a:r>
              <a:rPr b="0" sz="1100">
                <a:solidFill>
                  <a:srgbClr val="334155"/>
                </a:solidFill>
              </a:rPr>
              <a:t>Quantifying annotation reliability beyond chance agreement between independent raters.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Cohen's Kappa Formula: </a:t>
            </a:r>
            <a:r>
              <a:rPr b="0" sz="1100">
                <a:solidFill>
                  <a:srgbClr val="334155"/>
                </a:solidFill>
              </a:rPr>
              <a:t>kappa = (P_o - P_e) / (1 - P_e), where P_o is observed proportion of agreement and P_e is chance agreement.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Observed Agreement (P_o): </a:t>
            </a:r>
            <a:r>
              <a:rPr b="0" sz="1100">
                <a:solidFill>
                  <a:srgbClr val="334155"/>
                </a:solidFill>
              </a:rPr>
              <a:t>Sum of diagonal cells in confusion matrix divided by total annotated instances: P_o = sum(C_ii) / 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Expected Agreement (P_e): </a:t>
            </a:r>
            <a:r>
              <a:rPr b="0" sz="1100">
                <a:solidFill>
                  <a:srgbClr val="334155"/>
                </a:solidFill>
              </a:rPr>
              <a:t>Sum of products of marginal probabilities for each category: P_e = sum(p_i1 * p_i2).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Interpretation Standards: </a:t>
            </a:r>
            <a:r>
              <a:rPr b="0" sz="1100">
                <a:solidFill>
                  <a:srgbClr val="334155"/>
                </a:solidFill>
              </a:rPr>
              <a:t>kappa &lt; 0: Poor; 0.21-0.40: Fair; 0.61-0.80: Substantial; 0.81-1.00: Near Perfect agreement. Crucial for benchmark validity.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3: PATTERN MATCHING  |  SLIDE 5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Regular Expressions (Regex) in NLP: Syntax, Quantifiers, and Rule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[SYNTAX &amp; ANCHORS]  Metacharacters, Anchors &amp; Character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Anchors (^, $): </a:t>
            </a:r>
            <a:r>
              <a:rPr b="0" sz="1100">
                <a:solidFill>
                  <a:srgbClr val="334155"/>
                </a:solidFill>
              </a:rPr>
              <a:t>'^' asserts start of string/line; '$' asserts end of string/line (e.g., ^[A-Z] matches sentences starting with capital).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Word Boundaries (\b): </a:t>
            </a:r>
            <a:r>
              <a:rPr b="0" sz="1100">
                <a:solidFill>
                  <a:srgbClr val="334155"/>
                </a:solidFill>
              </a:rPr>
              <a:t>Asserts position between a word character (\w) and non-word character (\W). Essential for exact keyword matching (\bAI\b vs 'AIR').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Predefined Character Classes: </a:t>
            </a:r>
            <a:r>
              <a:rPr b="0" sz="1100">
                <a:solidFill>
                  <a:srgbClr val="334155"/>
                </a:solidFill>
              </a:rPr>
              <a:t>\d (digit [0-9]), \w (alphanumeric [a-zA-Z0-9_]), \s (whitespace [ \t\r\n\f]).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Custom Character Sets: </a:t>
            </a:r>
            <a:r>
              <a:rPr b="0" sz="1100">
                <a:solidFill>
                  <a:srgbClr val="334155"/>
                </a:solidFill>
              </a:rPr>
              <a:t>[a-zA-Z] matches any alphabet letter; [^0-9] negates digits; [-+] matches signs.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Disjunction / Alternation (|): </a:t>
            </a:r>
            <a:r>
              <a:rPr b="0" sz="1100">
                <a:solidFill>
                  <a:srgbClr val="334155"/>
                </a:solidFill>
              </a:rPr>
              <a:t>(cat|dog|bird) matches any alternative in the grouping.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[ADVANCED REGEX]  Quantifiers, Capturing Groups &amp; Lookarounds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Greedy vs. Lazy Quantifiers: </a:t>
            </a:r>
            <a:r>
              <a:rPr b="0" sz="1100">
                <a:solidFill>
                  <a:srgbClr val="334155"/>
                </a:solidFill>
              </a:rPr>
              <a:t>* (0+), + (1+), ? (0 or 1), {m,n} (between m and n times). Append '?' for lazy/non-greedy matching (*? or +?).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Capturing vs Non-Capturing Groups: </a:t>
            </a:r>
            <a:r>
              <a:rPr b="0" sz="1100">
                <a:solidFill>
                  <a:srgbClr val="334155"/>
                </a:solidFill>
              </a:rPr>
              <a:t>(pattern) captures matched substring into group indices; (?:pattern) matches without capturing overhead.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Positive Lookahead (?=...): </a:t>
            </a:r>
            <a:r>
              <a:rPr b="0" sz="1100">
                <a:solidFill>
                  <a:srgbClr val="334155"/>
                </a:solidFill>
              </a:rPr>
              <a:t>Asserts regex matches only if followed by subpattern: '\d+(?=\s*USD)' matches '500' in '500 USD'.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Negative Lookahead (?!...): </a:t>
            </a:r>
            <a:r>
              <a:rPr b="0" sz="1100">
                <a:solidFill>
                  <a:srgbClr val="334155"/>
                </a:solidFill>
              </a:rPr>
              <a:t>Asserts regex matches only if NOT followed by subpattern: 'apple(?!\s*pie)' matches 'apple' if not 'apple pie'.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Entity Extraction Regex Example: </a:t>
            </a:r>
            <a:r>
              <a:rPr b="0" sz="1100">
                <a:solidFill>
                  <a:srgbClr val="334155"/>
                </a:solidFill>
              </a:rPr>
              <a:t>Date extraction: r'\b(19|20)\d{2}-(0[1-9]|1[0-2])-(0[1-9]|[12]\d|3[01])\b'.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3: PATTERN MATCHING  |  SLIDE 6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Information Extraction: Transforming Unstructured Text into Structured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[IE PIPELINE]  The Information Extraction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Objective of IE: </a:t>
            </a:r>
            <a:r>
              <a:rPr b="0" sz="1100">
                <a:solidFill>
                  <a:srgbClr val="334155"/>
                </a:solidFill>
              </a:rPr>
              <a:t>Extracting predefined types of facts, entities, and relationships from unconstrained natural text into relational tables.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Named Entity Detection: </a:t>
            </a:r>
            <a:r>
              <a:rPr b="0" sz="1100">
                <a:solidFill>
                  <a:srgbClr val="334155"/>
                </a:solidFill>
              </a:rPr>
              <a:t>Locating mentions of people, companies, geographical locations, monetary quantities, and temporal expressions.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Entity Linking &amp; Disambiguation: </a:t>
            </a:r>
            <a:r>
              <a:rPr b="0" sz="1100">
                <a:solidFill>
                  <a:srgbClr val="334155"/>
                </a:solidFill>
              </a:rPr>
              <a:t>Mapping text surface strings to canonical knowledge graph nodes (e.g., 'Apple' to NASDAQ:AAPL vs the fruit).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Co-reference Resolution: </a:t>
            </a:r>
            <a:r>
              <a:rPr b="0" sz="1100">
                <a:solidFill>
                  <a:srgbClr val="334155"/>
                </a:solidFill>
              </a:rPr>
              <a:t>Connecting pronouns and alternative mentions to the primary entity ('Sundar Pichai was appointed CEO. He said...').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Template Filling: </a:t>
            </a:r>
            <a:r>
              <a:rPr b="0" sz="1100">
                <a:solidFill>
                  <a:srgbClr val="334155"/>
                </a:solidFill>
              </a:rPr>
              <a:t>Populating fixed schema slots for events (e.g., Acquisition Template: Buyer, Target, Value, Date, Advisors).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[RELATION EXTRACTION]  Relation Extraction Paradigms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Relation Definition: </a:t>
            </a:r>
            <a:r>
              <a:rPr b="0" sz="1100">
                <a:solidFill>
                  <a:srgbClr val="334155"/>
                </a:solidFill>
              </a:rPr>
              <a:t>Identifying semantic predicates binding entity pairs: Rel(Entity1, Entity2) (e.g., FoundedBy(Google, Larry Page)).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Hearst Patterns (Lexico-Syntactic): </a:t>
            </a:r>
            <a:r>
              <a:rPr b="0" sz="1100">
                <a:solidFill>
                  <a:srgbClr val="334155"/>
                </a:solidFill>
              </a:rPr>
              <a:t>Hand-crafted regex rules detecting hyponymy/hypernymy: 'X such as Y', 'X including Y, Z' -&gt; is-a(Y, X).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Supervised Classification: </a:t>
            </a:r>
            <a:r>
              <a:rPr b="0" sz="1100">
                <a:solidFill>
                  <a:srgbClr val="334155"/>
                </a:solidFill>
              </a:rPr>
              <a:t>Training classifiers (SVM, BiLSTM, BERT) on annotated sentence paths between entity mention spans.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Distant Supervision (Mintz et al.): </a:t>
            </a:r>
            <a:r>
              <a:rPr b="0" sz="1100">
                <a:solidFill>
                  <a:srgbClr val="334155"/>
                </a:solidFill>
              </a:rPr>
              <a:t>Aligning a known knowledge graph relation triple with all text sentences co-mentioning both entities to auto-generate training data.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Open Information Extraction (OpenIE): </a:t>
            </a:r>
            <a:r>
              <a:rPr b="0" sz="1100">
                <a:solidFill>
                  <a:srgbClr val="334155"/>
                </a:solidFill>
              </a:rPr>
              <a:t>Domain-independent extraction of arbitrary relational tuples (Subject, Predicate, Object) without predefined schemata.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4: SYNTACTIC ANALYSIS  |  SLIDE 7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Part-of-Speech (POS) Tagging: Syntactic Categories and Lexical Ambiguity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[TAGSETS &amp; ROLE]  Grammatical Categories &amp; Tagsets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 of POS Tagging: </a:t>
            </a:r>
            <a:r>
              <a:rPr b="0" sz="1100">
                <a:solidFill>
                  <a:srgbClr val="334155"/>
                </a:solidFill>
              </a:rPr>
              <a:t>Assigning a specific grammatical category tag (noun, verb, adjective, preposition) to each token in a sentence.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Penn Treebank 45-Tag Tagset: </a:t>
            </a:r>
            <a:r>
              <a:rPr b="0" sz="1100">
                <a:solidFill>
                  <a:srgbClr val="334155"/>
                </a:solidFill>
              </a:rPr>
              <a:t>Standard benchmark tagset: NN (singular noun), NNS (plural noun), NNP (proper noun), VB (base verb), VBD (past verb), JJ (adjective), IN (preposition).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Universal Dependencies Tagset (UPOS): </a:t>
            </a:r>
            <a:r>
              <a:rPr b="0" sz="1100">
                <a:solidFill>
                  <a:srgbClr val="334155"/>
                </a:solidFill>
              </a:rPr>
              <a:t>17 coarse universal tags across languages: NOUN, VERB, ADJ, ADV, PRON, DET, ADP, CONJ, NUM, PUNCT.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Syntactic Utility: </a:t>
            </a:r>
            <a:r>
              <a:rPr b="0" sz="1100">
                <a:solidFill>
                  <a:srgbClr val="334155"/>
                </a:solidFill>
              </a:rPr>
              <a:t>Serves as prerequisite input for dependency parsers, named entity recognition, text-to-speech phoneme selection, and phrase chunking.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Morphological Enrichment: </a:t>
            </a:r>
            <a:r>
              <a:rPr b="0" sz="1100">
                <a:solidFill>
                  <a:srgbClr val="334155"/>
                </a:solidFill>
              </a:rPr>
              <a:t>In morphologically rich languages, tags also encode gender, number, case, tense, and aspect.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[AMBIGUITY]  Lexical Ambiguity &amp; Disambiguation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The Ambiguity Challenge: </a:t>
            </a:r>
            <a:r>
              <a:rPr b="0" sz="1100">
                <a:solidFill>
                  <a:srgbClr val="334155"/>
                </a:solidFill>
              </a:rPr>
              <a:t>A massive proportion of English words function across multiple grammatical categories depending entirely on contextual syntax.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Classic POS Ambiguity Example: </a:t>
            </a:r>
            <a:r>
              <a:rPr b="0" sz="1100">
                <a:solidFill>
                  <a:srgbClr val="334155"/>
                </a:solidFill>
              </a:rPr>
              <a:t>'Time flies like an arrow':
• 'Time' can be Noun, Verb, or Adjective.
• 'flies' can be Plural Noun or Verb.
• 'like' can be Preposition, Verb, or Conjunction.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Frequency-Based Baseline: </a:t>
            </a:r>
            <a:r>
              <a:rPr b="0" sz="1100">
                <a:solidFill>
                  <a:srgbClr val="334155"/>
                </a:solidFill>
              </a:rPr>
              <a:t>Assigning each word its most frequent tag from a training corpus achieves ~90% accuracy; remaining 10% requires sequence context.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Syntactic Context Resolution: </a:t>
            </a:r>
            <a:r>
              <a:rPr b="0" sz="1100">
                <a:solidFill>
                  <a:srgbClr val="334155"/>
                </a:solidFill>
              </a:rPr>
              <a:t>Determining that 'book' after 'a' is a noun (NN), while 'book' after 'to' is a verb (VB).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Capitalization &amp; Affix Clues: </a:t>
            </a:r>
            <a:r>
              <a:rPr b="0" sz="1100">
                <a:solidFill>
                  <a:srgbClr val="334155"/>
                </a:solidFill>
              </a:rPr>
              <a:t>Capitalization indicates NNP; suffixes '-tion', '-ment' signal NN; '-ly' indicates RB (adverb).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4: SYNTACTIC ANALYSIS  |  SLIDE 8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POS Tagging Approaches: Rule-Based, Transformation-Based, and Statistical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[RULE &amp; TBL]  Rule-Based &amp; Transformation-Based (TBL)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Two-Stage Rule-Based Tagger: </a:t>
            </a:r>
            <a:r>
              <a:rPr b="0" sz="1100">
                <a:solidFill>
                  <a:srgbClr val="334155"/>
                </a:solidFill>
              </a:rPr>
              <a:t>1. Lexicon lookup assigns every word all possible candidate tags.
2. Disambiguation rules eliminate invalid tags based on neighboring context.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Hand-Crafted Constraint Grammar: </a:t>
            </a:r>
            <a:r>
              <a:rPr b="0" sz="1100">
                <a:solidFill>
                  <a:srgbClr val="334155"/>
                </a:solidFill>
              </a:rPr>
              <a:t>Example rule: If word is ambiguous between verb and noun and immediately preceded by a possessive pronoun ('my book'), eliminate verb tag.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Brill's Transformation-Based Learning: </a:t>
            </a:r>
            <a:r>
              <a:rPr b="0" sz="1100">
                <a:solidFill>
                  <a:srgbClr val="334155"/>
                </a:solidFill>
              </a:rPr>
              <a:t>Learns error-correcting rules automatically from a tagged corpus starting from a simple baseline tagger.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TBL Rule Template: </a:t>
            </a:r>
            <a:r>
              <a:rPr b="0" sz="1100">
                <a:solidFill>
                  <a:srgbClr val="334155"/>
                </a:solidFill>
              </a:rPr>
              <a:t>Change tag from A to B if predecessor is tagged C (e.g., Change NN to VB if previous word is 'to' [TO]).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TBL Advantages: </a:t>
            </a:r>
            <a:r>
              <a:rPr b="0" sz="1100">
                <a:solidFill>
                  <a:srgbClr val="334155"/>
                </a:solidFill>
              </a:rPr>
              <a:t>Produces human-interpretable linguistic rule sets; small footprint; resistant to over-fitting on small lexicons.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[STATISTICAL &amp; DL]  Statistical, Generative &amp; Neural Taggers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Stochastic HMM Taggers: </a:t>
            </a:r>
            <a:r>
              <a:rPr b="0" sz="1100">
                <a:solidFill>
                  <a:srgbClr val="334155"/>
                </a:solidFill>
              </a:rPr>
              <a:t>Generative sequence model optimizing joint probability P(Words, Tags) via transition and emission probabilities.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Maximum Entropy Markov Models (MEMM): </a:t>
            </a:r>
            <a:r>
              <a:rPr b="0" sz="1100">
                <a:solidFill>
                  <a:srgbClr val="334155"/>
                </a:solidFill>
              </a:rPr>
              <a:t>Discriminative log-linear model supporting arbitrary overlapping features; suffers from label bias problem.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Linear-Chain Conditional Random Fields (CRF): </a:t>
            </a:r>
            <a:r>
              <a:rPr b="0" sz="1100">
                <a:solidFill>
                  <a:srgbClr val="334155"/>
                </a:solidFill>
              </a:rPr>
              <a:t>Global normalization avoids label bias; state-of-the-art for traditional feature-engineered sequence labeling.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BiLSTM-CRF Neural Tagger: </a:t>
            </a:r>
            <a:r>
              <a:rPr b="0" sz="1100">
                <a:solidFill>
                  <a:srgbClr val="334155"/>
                </a:solidFill>
              </a:rPr>
              <a:t>Bidirectional LSTM encodes character/word representations; CRF layer enforces global tag transition constraints.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Transformer-Based Tagging (BERT): </a:t>
            </a:r>
            <a:r>
              <a:rPr b="0" sz="1100">
                <a:solidFill>
                  <a:srgbClr val="334155"/>
                </a:solidFill>
              </a:rPr>
              <a:t>Token-classification head over contextual transformer representations; achieves &gt;97.5% Penn Treebank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5: SEQUENCE MODELING  |  SLIDE 9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Hidden Markov Models (HMM): Mathematical Framework for Sequence Labeling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[HMM 5-TUPLE]  HMM Five-Tuple Formal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States (S): </a:t>
            </a:r>
            <a:r>
              <a:rPr b="0" sz="1100">
                <a:solidFill>
                  <a:srgbClr val="334155"/>
                </a:solidFill>
              </a:rPr>
              <a:t>Set of hidden states S = {s1, s2, ..., sN}. In POS tagging, hidden states correspond to POS tags (NN, VB, JJ).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Observations (V): </a:t>
            </a:r>
            <a:r>
              <a:rPr b="0" sz="1100">
                <a:solidFill>
                  <a:srgbClr val="334155"/>
                </a:solidFill>
              </a:rPr>
              <a:t>Vocabulary of observable symbols V = {v1, v2, ..., vM}. In NLP, observations are raw tokenized words in text.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Transition Probability Matrix (A): </a:t>
            </a:r>
            <a:r>
              <a:rPr b="0" sz="1100">
                <a:solidFill>
                  <a:srgbClr val="334155"/>
                </a:solidFill>
              </a:rPr>
              <a:t>A = {a_ij}, where a_ij = P(q_t = s_j | q_{t-1} = s_i). Probability of transitioning from tag s_i to tag s_j.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Emission Probability Matrix (B): </a:t>
            </a:r>
            <a:r>
              <a:rPr b="0" sz="1100">
                <a:solidFill>
                  <a:srgbClr val="334155"/>
                </a:solidFill>
              </a:rPr>
              <a:t>B = {b_j(k)}, where b_j(k) = P(o_t = v_k | q_t = s_j). Probability that tag s_j emits observed word v_k.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Initial State Distribution (pi): </a:t>
            </a:r>
            <a:r>
              <a:rPr b="0" sz="1100">
                <a:solidFill>
                  <a:srgbClr val="334155"/>
                </a:solidFill>
              </a:rPr>
              <a:t>pi = {pi_i}, where pi_i = P(q_1 = s_i). Probability of the sequence starting in state s_i.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[MATHEMATICS]  Two Fundamental Markov 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1. First-Order Markov Property: </a:t>
            </a:r>
            <a:r>
              <a:rPr b="0" sz="1100">
                <a:solidFill>
                  <a:srgbClr val="334155"/>
                </a:solidFill>
              </a:rPr>
              <a:t>The current state depends solely on the immediately preceding state: P(q_t | q_1, ..., q_{t-1}) = P(q_t | q_{t-1}).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2. Output Independence Assumption: </a:t>
            </a:r>
            <a:r>
              <a:rPr b="0" sz="1100">
                <a:solidFill>
                  <a:srgbClr val="334155"/>
                </a:solidFill>
              </a:rPr>
              <a:t>The observed token at time t depends only on the current hidden state at time t: P(o_t | q_1, ..., q_t, o_1, ..., o_{t-1}) = P(o_t | q_t).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Joint Probability Formulation: </a:t>
            </a:r>
            <a:r>
              <a:rPr b="0" sz="1100">
                <a:solidFill>
                  <a:srgbClr val="334155"/>
                </a:solidFill>
              </a:rPr>
              <a:t>P(O, Q) = pi_{q_1} * b_{q_1}(o_1) * prod_{t=2}^T a_{q_{t-1}, q_t} * b_{q_t}(o_t).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MLE Estimation from Tagged Corpus: </a:t>
            </a:r>
            <a:r>
              <a:rPr b="0" sz="1100">
                <a:solidFill>
                  <a:srgbClr val="334155"/>
                </a:solidFill>
              </a:rPr>
              <a:t>a_ij = Count(s_i, s_j) / Count(s_i);  b_j(k) = Count(s_j, v_k) / Count(s_j).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Out-of-Vocabulary Emission Handling: </a:t>
            </a:r>
            <a:r>
              <a:rPr b="0" sz="1100">
                <a:solidFill>
                  <a:srgbClr val="334155"/>
                </a:solidFill>
              </a:rPr>
              <a:t>Assigning uniform floor probability or smoothing based on morphological prefixes/suffixes for unseen words.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5: SEQUENCE MODELING  |  SLIDE 10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3 HMM Problems and the Viterbi Dynamic Programming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[3 PROBLEMS]  The 3 Classical HMM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Problem 1: Evaluation (Likelihood): </a:t>
            </a:r>
            <a:r>
              <a:rPr b="0" sz="1100">
                <a:solidFill>
                  <a:srgbClr val="334155"/>
                </a:solidFill>
              </a:rPr>
              <a:t>Given model lambda=(A, B, pi) and observation sequence O, compute P(O|lambda). Solved via Forward-Backward Algorithm in O(N^2 * T) time.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Problem 2: Decoding (Inference): </a:t>
            </a:r>
            <a:r>
              <a:rPr b="0" sz="1100">
                <a:solidFill>
                  <a:srgbClr val="334155"/>
                </a:solidFill>
              </a:rPr>
              <a:t>Given model lambda and observation sequence O, discover the optimal hidden state sequence Q* that best explains O. Solved via Viterbi Algorithm.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Problem 3: Learning (Training): </a:t>
            </a:r>
            <a:r>
              <a:rPr b="0" sz="1100">
                <a:solidFill>
                  <a:srgbClr val="334155"/>
                </a:solidFill>
              </a:rPr>
              <a:t>Given observation sequence O (unlabeled), adjust model parameters lambda to maximize P(O|lambda). Solved via Baum-Welch (EM) Algorithm.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Computational Bottleneck: </a:t>
            </a:r>
            <a:r>
              <a:rPr b="0" sz="1100">
                <a:solidFill>
                  <a:srgbClr val="334155"/>
                </a:solidFill>
              </a:rPr>
              <a:t>Naive brute-force path evaluation requires O(N^T) operations, which is computationally intractable for realistic sentence lengths.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[VITERBI ALGORITHM]  Viterbi Decoding Algorithm &amp; Recurrence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Viterbi Trellis Variable v_t(j): </a:t>
            </a:r>
            <a:r>
              <a:rPr b="0" sz="1100">
                <a:solidFill>
                  <a:srgbClr val="334155"/>
                </a:solidFill>
              </a:rPr>
              <a:t>Represents maximum probability of observing o_1...o_t along single best path terminating in state s_j at time 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Initialization (t = 1): </a:t>
            </a:r>
            <a:r>
              <a:rPr b="0" sz="1100">
                <a:solidFill>
                  <a:srgbClr val="334155"/>
                </a:solidFill>
              </a:rPr>
              <a:t>v_1(j) = pi_j * b_j(o_1);  backpointer ptr_1(j) = 0 for all j.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Induction Step (t = 2 to T): </a:t>
            </a:r>
            <a:r>
              <a:rPr b="0" sz="1100">
                <a:solidFill>
                  <a:srgbClr val="334155"/>
                </a:solidFill>
              </a:rPr>
              <a:t>v_t(j) = max_{1 &lt;= i &lt;= N} [ v_{t-1}(i) * a_ij ] * b_j(o_t).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Backpointer Matrix Storage: </a:t>
            </a:r>
            <a:r>
              <a:rPr b="0" sz="1100">
                <a:solidFill>
                  <a:srgbClr val="334155"/>
                </a:solidFill>
              </a:rPr>
              <a:t>ptr_t(j) = argmax_{1 &lt;= i &lt;= N} [ v_{t-1}(i) * a_ij ]. Tracks winning predecessor state for backward path recovery.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Termination &amp; Backtracking: </a:t>
            </a:r>
            <a:r>
              <a:rPr b="0" sz="1100">
                <a:solidFill>
                  <a:srgbClr val="334155"/>
                </a:solidFill>
              </a:rPr>
              <a:t>Best final state q_T* = argmax_i v_T(i). Trace backwards: q_t* = ptr_{t+1}(q_{t+1}*). Complexity: O(N^2 * 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6: LANGUAGE MODELING  |  SLIDE 11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N-gram Language Modeling: Probability Estimation and the Markov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[FOUNDATIONS]  Probabilistic Language Modeling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Goal of Language Modeling: </a:t>
            </a:r>
            <a:r>
              <a:rPr b="0" sz="1100">
                <a:solidFill>
                  <a:srgbClr val="334155"/>
                </a:solidFill>
              </a:rPr>
              <a:t>Assigning a probability P(W) to a sequence of words W = (w1, w2, ..., wm) and predicting the next word P(w_{k} | w_1, ..., w_{k-1}).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Probability Chain Rule (Exact): </a:t>
            </a:r>
            <a:r>
              <a:rPr b="0" sz="1100">
                <a:solidFill>
                  <a:srgbClr val="334155"/>
                </a:solidFill>
              </a:rPr>
              <a:t>P(w_1, w_2, ..., w_m) = prod_{k=1}^m P(w_k | w_1, w_2, ..., w_{k-1}). Exponentially unmanageable history.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Markov Assumption (Order n-1): </a:t>
            </a:r>
            <a:r>
              <a:rPr b="0" sz="1100">
                <a:solidFill>
                  <a:srgbClr val="334155"/>
                </a:solidFill>
              </a:rPr>
              <a:t>Assume probability of the current word depends solely on preceding n-1 words: P(w_k | w_1, ..., w_{k-1}) approx P(w_k | w_{k-n+1}, ..., w_{k-1}).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Unigram Model (n = 1): </a:t>
            </a:r>
            <a:r>
              <a:rPr b="0" sz="1100">
                <a:solidFill>
                  <a:srgbClr val="334155"/>
                </a:solidFill>
              </a:rPr>
              <a:t>Assumes complete word independence: P(W) = prod_{i=1}^m P(w_i) = prod C(w_i)/N.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Bigram Model (n = 2): </a:t>
            </a:r>
            <a:r>
              <a:rPr b="0" sz="1100">
                <a:solidFill>
                  <a:srgbClr val="334155"/>
                </a:solidFill>
              </a:rPr>
              <a:t>Conditioned on immediate predecessor: P(W) = prod_{i=1}^m P(w_i | w_{i-1}).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[MLE &amp; PERPLEXITY]  Maximum Likelihood Estimation &amp; Perplexity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Bigram MLE Formula: </a:t>
            </a:r>
            <a:r>
              <a:rPr b="0" sz="1100">
                <a:solidFill>
                  <a:srgbClr val="334155"/>
                </a:solidFill>
              </a:rPr>
              <a:t>P_MLE(w_i | w_{i-1}) = Count(w_{i-1}, w_i) / Count(w_{i-1}).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Trigram MLE Formula: </a:t>
            </a:r>
            <a:r>
              <a:rPr b="0" sz="1100">
                <a:solidFill>
                  <a:srgbClr val="334155"/>
                </a:solidFill>
              </a:rPr>
              <a:t>P_MLE(w_i | w_{i-2}, w_{i-1}) = Count(w_{i-2}, w_{i-1}, w_i) / Count(w_{i-2}, w_{i-1}).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Sentence Probability Example: </a:t>
            </a:r>
            <a:r>
              <a:rPr b="0" sz="1100">
                <a:solidFill>
                  <a:srgbClr val="334155"/>
                </a:solidFill>
              </a:rPr>
              <a:t>P('&lt;s&gt; AI KnowledgeBot is interactive &lt;/s&gt;') = P(AI|&lt;s&gt;) * P(KnowledgeBot|AI) * P(is|KnowledgeBot) * P(interactive|is) * P(&lt;/s&gt;|interactive).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Perplexity (PPL) Metric: </a:t>
            </a:r>
            <a:r>
              <a:rPr b="0" sz="1100">
                <a:solidFill>
                  <a:srgbClr val="334155"/>
                </a:solidFill>
              </a:rPr>
              <a:t>PP(W) = P(w_1, ..., w_m)^{-1/m} = exp(- 1/m sum ln P(w_i | w_{&lt;i})).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Perplexity Interpretation: </a:t>
            </a:r>
            <a:r>
              <a:rPr b="0" sz="1100">
                <a:solidFill>
                  <a:srgbClr val="334155"/>
                </a:solidFill>
              </a:rPr>
              <a:t>Geometric average branching factor. Lower perplexity indicates superior predictive power and tighter probability fit.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6: LANGUAGE MODELING  |  SLIDE 12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Zero-Probability Problem and Additive Laplace Smoothing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[THE PROBLEM]  The Zero-Probability Bottleneck (Sparsity)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The Zero-Frequency Phenomenon: </a:t>
            </a:r>
            <a:r>
              <a:rPr b="0" sz="1100">
                <a:solidFill>
                  <a:srgbClr val="334155"/>
                </a:solidFill>
              </a:rPr>
              <a:t>Even massive corpora contain only a fraction of valid n-grams. If Count(w_{i-1}, w_i) = 0, then P_MLE(w_i | w_{i-1}) = 0.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Catastrophic Product Nullification: </a:t>
            </a:r>
            <a:r>
              <a:rPr b="0" sz="1100">
                <a:solidFill>
                  <a:srgbClr val="334155"/>
                </a:solidFill>
              </a:rPr>
              <a:t>Because sentence probability multiplies conditional probabilities, a single unseen bigram zeroes the entire sentence probability: P(W) = 0!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Perplexity Divergence: </a:t>
            </a:r>
            <a:r>
              <a:rPr b="0" sz="1100">
                <a:solidFill>
                  <a:srgbClr val="334155"/>
                </a:solidFill>
              </a:rPr>
              <a:t>Zero probability causes log(0) = -infinity, causing perplexity to diverge to infinity, making model evaluation impossible.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Concept of Smoothing (Discounting): </a:t>
            </a:r>
            <a:r>
              <a:rPr b="0" sz="1100">
                <a:solidFill>
                  <a:srgbClr val="334155"/>
                </a:solidFill>
              </a:rPr>
              <a:t>Stealing probability mass from frequent n-grams and reallocating it to zero-count and rare events.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Zipf's Law Rationale: </a:t>
            </a:r>
            <a:r>
              <a:rPr b="0" sz="1100">
                <a:solidFill>
                  <a:srgbClr val="334155"/>
                </a:solidFill>
              </a:rPr>
              <a:t>A tiny number of words occur frequently, while vast numbers of words and combinations occur rarely or never.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[ADDITIVE SMOOTHING]  Laplace (Add-1) &amp; Lidstone (Add-k) Smoothing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Laplace (Add-1) Formula: </a:t>
            </a:r>
            <a:r>
              <a:rPr b="0" sz="1100">
                <a:solidFill>
                  <a:srgbClr val="334155"/>
                </a:solidFill>
              </a:rPr>
              <a:t>P_Laplace(w_i | w_{i-1}) = [ Count(w_{i-1}, w_i) + 1 ] / [ Count(w_{i-1}) + |V| ], where |V| is vocabulary size.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Normalizing Denominator: </a:t>
            </a:r>
            <a:r>
              <a:rPr b="0" sz="1100">
                <a:solidFill>
                  <a:srgbClr val="334155"/>
                </a:solidFill>
              </a:rPr>
              <a:t>Adding 1 to every possible continuation word requires adding |V| to denominator to ensure sum_{w in V} P(w|w_{i-1}) = 1.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Lidstone (Add-k) Formula: </a:t>
            </a:r>
            <a:r>
              <a:rPr b="0" sz="1100">
                <a:solidFill>
                  <a:srgbClr val="334155"/>
                </a:solidFill>
              </a:rPr>
              <a:t>P_Add-k(w_i | w_{i-1}) = [ Count(w_{i-1}, w_i) + k ] / [ Count(w_{i-1}) + k*|V| ], where 0 &lt; k &lt; 1 (e.g., k = 0.05).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Shortcoming of Laplace: </a:t>
            </a:r>
            <a:r>
              <a:rPr b="0" sz="1100">
                <a:solidFill>
                  <a:srgbClr val="334155"/>
                </a:solidFill>
              </a:rPr>
              <a:t>When |V| is large (e.g., 100,000 words), Add-1 allocates far too much probability mass to unseen events, severely degrading known probabilities.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Practical Role: </a:t>
            </a:r>
            <a:r>
              <a:rPr b="0" sz="1100">
                <a:solidFill>
                  <a:srgbClr val="334155"/>
                </a:solidFill>
              </a:rPr>
              <a:t>Useful baseline for naive Bayes text classification; largely superseded by Kneser-Ney in acoustic and language modeling.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6: LANGUAGE MODELING  |  SLIDE 13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Advanced Smoothing Techniques: Good-Turing, Backoff, and Kneser-Ney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[GOOD-TURING &amp; JM]  Good-Turing &amp; Jelinek-Mercer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Good-Turing Intuition: </a:t>
            </a:r>
            <a:r>
              <a:rPr b="0" sz="1100">
                <a:solidFill>
                  <a:srgbClr val="334155"/>
                </a:solidFill>
              </a:rPr>
              <a:t>Re-estimates frequency of things seen r times based on frequency of things seen r+1 times: r* = (r+1) * [N_{r+1} / N_r].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Probability of Unseen Events in GT: </a:t>
            </a:r>
            <a:r>
              <a:rPr b="0" sz="1100">
                <a:solidFill>
                  <a:srgbClr val="334155"/>
                </a:solidFill>
              </a:rPr>
              <a:t>Total probability mass for zero-count items is P_0 = N_1 / N (proportion of singletons/hapax legomena).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Jelinek-Mercer Interpolation: </a:t>
            </a:r>
            <a:r>
              <a:rPr b="0" sz="1100">
                <a:solidFill>
                  <a:srgbClr val="334155"/>
                </a:solidFill>
              </a:rPr>
              <a:t>Linearly blends trigram, bigram, and unigram probabilities using learned weights lambda:
P_JM(w_i | w_{i-2}, w_{i-1}) = lambda_3 * P_MLE(w_i | w_{i-2}, w_{i-1}) + lambda_2 * P_MLE(w_i | w_{i-1}) + lambda_1 * P_MLE(w_i).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Interpolation Invariant: </a:t>
            </a:r>
            <a:r>
              <a:rPr b="0" sz="1100">
                <a:solidFill>
                  <a:srgbClr val="334155"/>
                </a:solidFill>
              </a:rPr>
              <a:t>sum lambda_i = 1; ensures valid probability distribution while falling back smoothly when higher-order counts are sparse.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[KNESER-NEY]  Katz Backoff &amp; Modified Kneser-Ney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Katz Backoff Philosophy: </a:t>
            </a:r>
            <a:r>
              <a:rPr b="0" sz="1100">
                <a:solidFill>
                  <a:srgbClr val="334155"/>
                </a:solidFill>
              </a:rPr>
              <a:t>Uses MLE probability if count &gt; 0; otherwise backs off to lower-order smoothed distribution scaled by normalization alpha.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Kneser-Ney Breakthrough: </a:t>
            </a:r>
            <a:r>
              <a:rPr b="0" sz="1100">
                <a:solidFill>
                  <a:srgbClr val="334155"/>
                </a:solidFill>
              </a:rPr>
              <a:t>Recognizes that lower-order unigram should reflect how likely a word is to complete a novel context, not just raw unigram frequency.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Classic 'Francisco' Example: </a:t>
            </a:r>
            <a:r>
              <a:rPr b="0" sz="1100">
                <a:solidFill>
                  <a:srgbClr val="334155"/>
                </a:solidFill>
              </a:rPr>
              <a:t>'San Francisco' is very frequent, making 'Francisco' have high unigram count. But 'Francisco' almost exclusively follows 'San' and should NOT be suggested in random contexts!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Continuation Probability P_cont: </a:t>
            </a:r>
            <a:r>
              <a:rPr b="0" sz="1100">
                <a:solidFill>
                  <a:srgbClr val="334155"/>
                </a:solidFill>
              </a:rPr>
              <a:t>P_cont(w) = |{w_{i-1} : Count(w_{i-1}, w) &gt; 0}| / sum_{w'} |{w_{i-1} : Count(w_{i-1}, w') &gt; 0}|.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Kneser-Ney Interpolated Formula: </a:t>
            </a:r>
            <a:r>
              <a:rPr b="0" sz="1100">
                <a:solidFill>
                  <a:srgbClr val="334155"/>
                </a:solidFill>
              </a:rPr>
              <a:t>P_KN(w_i | w_{i-1}) = max(Count(w_{i-1}, w_i) - d, 0)/Count(w_{i-1}) + lambda(w_{i-1}) * P_cont(w_i). State of the 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7: ENTITY EXTRACTION  |  SLIDE 14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Named Entity Recognition (NER): Task Definition, Taxonomy, and Tag Schemes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[TAXONOMY]  NER Task Definition &amp; Entity Taxonomies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 of NER: </a:t>
            </a:r>
            <a:r>
              <a:rPr b="0" sz="1100">
                <a:solidFill>
                  <a:srgbClr val="334155"/>
                </a:solidFill>
              </a:rPr>
              <a:t>Information extraction subtask identifying and categorizing named entity spans in unstructured text into predefined semantic classes.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MUC Standard Categories: </a:t>
            </a:r>
            <a:r>
              <a:rPr b="0" sz="1100">
                <a:solidFill>
                  <a:srgbClr val="334155"/>
                </a:solidFill>
              </a:rPr>
              <a:t>PERSON (Alan Turing), ORGANIZATION (Google, DeepMind), LOCATION (London, California).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CoNLL &amp; OntoNotes Categories: </a:t>
            </a:r>
            <a:r>
              <a:rPr b="0" sz="1100">
                <a:solidFill>
                  <a:srgbClr val="334155"/>
                </a:solidFill>
              </a:rPr>
              <a:t>Extended to 18 classes: DATE, TIME, MONEY, PERCENT, GPE (geopolitical entities), NORP (nationalities/religions), FACILITY, PRODUCT.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Biomedical Domain NER: </a:t>
            </a:r>
            <a:r>
              <a:rPr b="0" sz="1100">
                <a:solidFill>
                  <a:srgbClr val="334155"/>
                </a:solidFill>
              </a:rPr>
              <a:t>Specialized entities: GENE, PROTEIN, DISEASE, CHEMICAL, DRUG (e.g., 'Metformin', 'BRCA1').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Dual Subtask Formulation: </a:t>
            </a:r>
            <a:r>
              <a:rPr b="0" sz="1100">
                <a:solidFill>
                  <a:srgbClr val="334155"/>
                </a:solidFill>
              </a:rPr>
              <a:t>1. Entity Boundary Detection (where does the mention begin and end?)
2. Entity Classification (what type of entity is it?).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[BIO TAGGING]  Sequence Tagging Schemes: IOB, BIOES &amp; BILOU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Sequence Labeling Formulation: </a:t>
            </a:r>
            <a:r>
              <a:rPr b="0" sz="1100">
                <a:solidFill>
                  <a:srgbClr val="334155"/>
                </a:solidFill>
              </a:rPr>
              <a:t>Transforms span extraction into token-level classification using positional boundary prefixes.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IOB / BIO Tagging Scheme: </a:t>
            </a:r>
            <a:r>
              <a:rPr b="0" sz="1100">
                <a:solidFill>
                  <a:srgbClr val="334155"/>
                </a:solidFill>
              </a:rPr>
              <a:t>• B (Begin): First token of multi-token entity span.
• I (Inside): Subsequent tokens inside entity span.
• O (Outside): Tokens not belonging to any entity.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Concrete BIO Example: </a:t>
            </a:r>
            <a:r>
              <a:rPr b="0" sz="1100">
                <a:solidFill>
                  <a:srgbClr val="334155"/>
                </a:solidFill>
              </a:rPr>
              <a:t>"Google [B-ORG] DeepMind [I-ORG] opened [O] an [O] office [O] in [O] London [B-LOC] on [O] Monday [B-DATE]".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BIOES / BILOU Extension: </a:t>
            </a:r>
            <a:r>
              <a:rPr b="0" sz="1100">
                <a:solidFill>
                  <a:srgbClr val="334155"/>
                </a:solidFill>
              </a:rPr>
              <a:t>Adds E/L (End/Last) token and S/U (Single/Unit) token. Helps models explicitly learn transitions for single-token versus multi-token spans.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Evaluation Metrics: </a:t>
            </a:r>
            <a:r>
              <a:rPr b="0" sz="1100">
                <a:solidFill>
                  <a:srgbClr val="334155"/>
                </a:solidFill>
              </a:rPr>
              <a:t>Precision, Recall, and Strict Micro F1-Score requiring both exact entity boundary span AND correct semantic class.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7: ENTITY EXTRACTION  |  SLIDE 15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Rule-Based NER: Gazetteers, Contextual Clues, and Deterministic Heuristics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[GAZETTEERS]  Gazetteers &amp; Dictionary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Gazetteer Lists: </a:t>
            </a:r>
            <a:r>
              <a:rPr b="0" sz="1100">
                <a:solidFill>
                  <a:srgbClr val="334155"/>
                </a:solidFill>
              </a:rPr>
              <a:t>Curated white-lists containing millions of known entity instances (e.g., country lists, company registry databases, drug dictionaries).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Aho-Corasick Algorithm: </a:t>
            </a:r>
            <a:r>
              <a:rPr b="0" sz="1100">
                <a:solidFill>
                  <a:srgbClr val="334155"/>
                </a:solidFill>
              </a:rPr>
              <a:t>Trie-based string matching that searches across millions of dictionary entries in O(Text Length + Matches) time.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Lexical Variation Challenges: </a:t>
            </a:r>
            <a:r>
              <a:rPr b="0" sz="1100">
                <a:solidFill>
                  <a:srgbClr val="334155"/>
                </a:solidFill>
              </a:rPr>
              <a:t>Fails on unseen spelling variations, nicknames, acronyms, or novel entities not in pre-compiled lists.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Case Sensitivity Matching: </a:t>
            </a:r>
            <a:r>
              <a:rPr b="0" sz="1100">
                <a:solidFill>
                  <a:srgbClr val="334155"/>
                </a:solidFill>
              </a:rPr>
              <a:t>Differentiating 'May' (Month/Person) vs 'may' (modal verb); 'Apple' (Company) vs 'apple' (fruit).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Hybrid Gazetteer Features: </a:t>
            </a:r>
            <a:r>
              <a:rPr b="0" sz="1100">
                <a:solidFill>
                  <a:srgbClr val="334155"/>
                </a:solidFill>
              </a:rPr>
              <a:t>Feeding gazetteer hit binary flags as input features into statistical models (CRF, BiLSTM) to bridge rule-based and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[HEURISTICS &amp; TRADEOFFS]  Contextual Heuristics &amp; Pros / Cons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Contextual Trigger Words: </a:t>
            </a:r>
            <a:r>
              <a:rPr b="0" sz="1100">
                <a:solidFill>
                  <a:srgbClr val="334155"/>
                </a:solidFill>
              </a:rPr>
              <a:t>Preceding or trailing trigger keywords signaling entity classes (e.g., 'CEO of [ORG]', 'Dr. [PERSON]', 'Inc.', 'Ltd.', 'River', 'Avenue').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Capitalization &amp; POS Patterns: </a:t>
            </a:r>
            <a:r>
              <a:rPr b="0" sz="1100">
                <a:solidFill>
                  <a:srgbClr val="334155"/>
                </a:solidFill>
              </a:rPr>
              <a:t>Proper noun sequences [NNP]+ followed by corporate designators: r'\b[A-Z][a-z]+(?:\s+[A-Z][a-z]+)*\s+(?:Inc\.|Corp\.|LLC)\b'.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Advantages of Rule-Based NER: </a:t>
            </a:r>
            <a:r>
              <a:rPr b="0" sz="1100">
                <a:solidFill>
                  <a:srgbClr val="334155"/>
                </a:solidFill>
              </a:rPr>
              <a:t>100% deterministic, fully explainable, zero training annotations required, instant domain adaptation via list editing.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Limitations of Rule-Based NER: </a:t>
            </a:r>
            <a:r>
              <a:rPr b="0" sz="1100">
                <a:solidFill>
                  <a:srgbClr val="334155"/>
                </a:solidFill>
              </a:rPr>
              <a:t>High maintenance cost, brittle against spelling mistakes, unable to handle complex context-dependent ambiguity.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Modern Industry Use Cases: </a:t>
            </a:r>
            <a:r>
              <a:rPr b="0" sz="1100">
                <a:solidFill>
                  <a:srgbClr val="334155"/>
                </a:solidFill>
              </a:rPr>
              <a:t>Ideal for high-precision regulatory extraction (PII, SSN, Tax IDs, IP addresses, clinical trial codes).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8: TEXT REPRESENTATION  |  SLIDE 16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Vector Space Model (VSM): Algebraic Representation of Documents and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[SALTON'S MODEL]  Salton's Vector Space Model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Foundational Concept (Gerard Salton): </a:t>
            </a:r>
            <a:r>
              <a:rPr b="0" sz="1100">
                <a:solidFill>
                  <a:srgbClr val="334155"/>
                </a:solidFill>
              </a:rPr>
              <a:t>Documents and search queries are represented as multidimensional vectors in a shared vector space: d_j = (w_{1j}, w_{2j}, ..., w_{Vj})^T.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Dimensionality |V|: </a:t>
            </a:r>
            <a:r>
              <a:rPr b="0" sz="1100">
                <a:solidFill>
                  <a:srgbClr val="334155"/>
                </a:solidFill>
              </a:rPr>
              <a:t>Each unique vocabulary term constitutes an independent orthogonal basis dimension in the geometric space.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Term-Document Matrix (TDM): </a:t>
            </a:r>
            <a:r>
              <a:rPr b="0" sz="1100">
                <a:solidFill>
                  <a:srgbClr val="334155"/>
                </a:solidFill>
              </a:rPr>
              <a:t>A matrix X of size |V| x |D|, where cell X_{ij} contains the weight of term i in document j.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Bag-of-Words (BoW) Assumption: </a:t>
            </a:r>
            <a:r>
              <a:rPr b="0" sz="1100">
                <a:solidFill>
                  <a:srgbClr val="334155"/>
                </a:solidFill>
              </a:rPr>
              <a:t>Disregards word grammar, syntax, and sequence order, retaining only word occurrence frequency.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Geometric Retrieval Principle: </a:t>
            </a:r>
            <a:r>
              <a:rPr b="0" sz="1100">
                <a:solidFill>
                  <a:srgbClr val="334155"/>
                </a:solidFill>
              </a:rPr>
              <a:t>Documents judged semantically relevant to a user query lie closer in the vector space, measured by angular orientation.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[SPARSITY &amp; WEIGHTING]  Sparsity &amp; Weighting Schemes in VSM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Matrix Sparsity Challenge: </a:t>
            </a:r>
            <a:r>
              <a:rPr b="0" sz="1100">
                <a:solidFill>
                  <a:srgbClr val="334155"/>
                </a:solidFill>
              </a:rPr>
              <a:t>Real-world vocabularies contain 50,000+ words, but typical documents contain a few hundred words; matrices are &gt;99% sparse.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Binary Weighting: </a:t>
            </a:r>
            <a:r>
              <a:rPr b="0" sz="1100">
                <a:solidFill>
                  <a:srgbClr val="334155"/>
                </a:solidFill>
              </a:rPr>
              <a:t>w_{ij} in {0, 1} indicating mere presence or absence of term in document.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Raw Term Frequency (TF): </a:t>
            </a:r>
            <a:r>
              <a:rPr b="0" sz="1100">
                <a:solidFill>
                  <a:srgbClr val="334155"/>
                </a:solidFill>
              </a:rPr>
              <a:t>w_{ij} = count(t_i, d_j). Over-rewards excessively repeated words.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Logarithmic Term Frequency: </a:t>
            </a:r>
            <a:r>
              <a:rPr b="0" sz="1100">
                <a:solidFill>
                  <a:srgbClr val="334155"/>
                </a:solidFill>
              </a:rPr>
              <a:t>w_{ij} = 1 + log(TF_{ij}) if TF &gt; 0, else 0. Dampens impact of repeated terms.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Matrix Storage Solutions: </a:t>
            </a:r>
            <a:r>
              <a:rPr b="0" sz="1100">
                <a:solidFill>
                  <a:srgbClr val="334155"/>
                </a:solidFill>
              </a:rPr>
              <a:t>Compressed Sparse Row (CSR) and Compressed Sparse Column (CSC) formats to store only non-zero coordinates in memory.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8: TEXT REPRESENTATION  |  SLIDE 17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TF-IDF Term Weighting: Balancing Local Importance with Corpus Specificity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[FORMULATION]  Mathematical Formulation of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Core Motivation: </a:t>
            </a:r>
            <a:r>
              <a:rPr b="0" sz="1100">
                <a:solidFill>
                  <a:srgbClr val="334155"/>
                </a:solidFill>
              </a:rPr>
              <a:t>A term appearing frequently in a specific document is important (high TF), but a term appearing across almost every document in corpus carries low informational value (low IDF).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Term Frequency (TF): </a:t>
            </a:r>
            <a:r>
              <a:rPr b="0" sz="1100">
                <a:solidFill>
                  <a:srgbClr val="334155"/>
                </a:solidFill>
              </a:rPr>
              <a:t>TF(t, d) = f_{t,d} / sum_{t' in d} f_{t',d}  (normalized local count).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Inverse Document Frequency (IDF): </a:t>
            </a:r>
            <a:r>
              <a:rPr b="0" sz="1100">
                <a:solidFill>
                  <a:srgbClr val="334155"/>
                </a:solidFill>
              </a:rPr>
              <a:t>IDF(t, D) = log [ N / (1 + |{d in D : t in d}|) ], where N is total documents and denominator counts document frequency.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TF-IDF Product: </a:t>
            </a:r>
            <a:r>
              <a:rPr b="0" sz="1100">
                <a:solidFill>
                  <a:srgbClr val="334155"/>
                </a:solidFill>
              </a:rPr>
              <a:t>TF-IDF(t, d, D) = TF(t, d) * IDF(t, D). High score means term is frequent locally and rare globally.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L2 Euclidean Normalization: </a:t>
            </a:r>
            <a:r>
              <a:rPr b="0" sz="1100">
                <a:solidFill>
                  <a:srgbClr val="334155"/>
                </a:solidFill>
              </a:rPr>
              <a:t>w'_i = w_i / sqrt(sum w_j^2). Eliminates bias favoring longer documents over concise 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[DYNAMICS &amp; BM25]  Behavioral Dynamics &amp; Stopword Suppression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Stopword Elimination without Lists: </a:t>
            </a:r>
            <a:r>
              <a:rPr b="0" sz="1100">
                <a:solidFill>
                  <a:srgbClr val="334155"/>
                </a:solidFill>
              </a:rPr>
              <a:t>Common grammatical function words ('the', 'is', 'at') appear in 100% of documents; IDF = log(N/N) = log(1) = 0, automatically nullifying them!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Signature Keyword Discovery: </a:t>
            </a:r>
            <a:r>
              <a:rPr b="0" sz="1100">
                <a:solidFill>
                  <a:srgbClr val="334155"/>
                </a:solidFill>
              </a:rPr>
              <a:t>Domain-specific terms ('transformer', 'mitochondria') appear concentrated in few documents, yielding high IDF and strong discriminative power.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Search Query Scoring: </a:t>
            </a:r>
            <a:r>
              <a:rPr b="0" sz="1100">
                <a:solidFill>
                  <a:srgbClr val="334155"/>
                </a:solidFill>
              </a:rPr>
              <a:t>Score(Query, Document) = sum_{t in Q} TF-IDF(t, d). Serves as classical search relevance backbone.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BM25 Evolution: </a:t>
            </a:r>
            <a:r>
              <a:rPr b="0" sz="1100">
                <a:solidFill>
                  <a:srgbClr val="334155"/>
                </a:solidFill>
              </a:rPr>
              <a:t>Okapi BM25 refines TF-IDF with non-linear asymptotic TF saturation and explicit document length normalization parameters (k1, b).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9: SIMILARITY &amp; GEOMETRY  |  SLIDE 18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Cosine Similarity: Mathematical Formulation and Geometric Properties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[FORMULA]  Cosine Similarity Mathematical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Definition: </a:t>
            </a:r>
            <a:r>
              <a:rPr b="0" sz="1100">
                <a:solidFill>
                  <a:srgbClr val="334155"/>
                </a:solidFill>
              </a:rPr>
              <a:t>Cosine similarity measures the cosine of the angle theta between two non-zero vectors u and v in an inner product space.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Dot Product Formulation: </a:t>
            </a:r>
            <a:r>
              <a:rPr b="0" sz="1100">
                <a:solidFill>
                  <a:srgbClr val="334155"/>
                </a:solidFill>
              </a:rPr>
              <a:t>cos(theta) = (u . v) / (||u||_2 * ||v||_2).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Expanded Formula: </a:t>
            </a:r>
            <a:r>
              <a:rPr b="0" sz="1100">
                <a:solidFill>
                  <a:srgbClr val="334155"/>
                </a:solidFill>
              </a:rPr>
              <a:t>cos(theta) = [ sum_{i=1}^n u_i * v_i ] / [ sqrt(sum_{i=1}^n u_i^2) * sqrt(sum_{i=1}^n v_i^2) ].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Value Range in Text Spaces: </a:t>
            </a:r>
            <a:r>
              <a:rPr b="0" sz="1100">
                <a:solidFill>
                  <a:srgbClr val="334155"/>
                </a:solidFill>
              </a:rPr>
              <a:t>Since term frequencies and TF-IDF weights are non-negative (u_i &gt;= 0), cosine similarity is bounded in [0, 1].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Geometric Interpretation: </a:t>
            </a:r>
            <a:r>
              <a:rPr b="0" sz="1100">
                <a:solidFill>
                  <a:srgbClr val="334155"/>
                </a:solidFill>
              </a:rPr>
              <a:t>• cos(theta) = 1 (theta = 0 deg): Identical direction / perfect similarity.
• cos(theta) = 0 (theta = 90 deg): Orthogonal vectors / zero shared vocabulary.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[ADVANTAGES]  Why Cosine Beats Euclidean Distance in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The Document Length Bias Problem: </a:t>
            </a:r>
            <a:r>
              <a:rPr b="0" sz="1100">
                <a:solidFill>
                  <a:srgbClr val="334155"/>
                </a:solidFill>
              </a:rPr>
              <a:t>Euclidean distance ||u - v|| = sqrt(sum (u_i - v_i)^2) is heavily distorted by document length. A short article and its long expanded version would have huge Euclidean distance.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Length Invariance of Cosine: </a:t>
            </a:r>
            <a:r>
              <a:rPr b="0" sz="1100">
                <a:solidFill>
                  <a:srgbClr val="334155"/>
                </a:solidFill>
              </a:rPr>
              <a:t>Cosine evaluates the angle (directional orientation) rather than vector magnitude (length). Concatenating a document with itself doubles its length but leaves its cosine angle unchanged!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Cosine Distance Relationship: </a:t>
            </a:r>
            <a:r>
              <a:rPr b="0" sz="1100">
                <a:solidFill>
                  <a:srgbClr val="334155"/>
                </a:solidFill>
              </a:rPr>
              <a:t>Cosine Distance = 1 - Cosine Similarity. Note: Cosine distance is technically a semimetric (does not strictly satisfy triangle inequality).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Computational Efficiency: </a:t>
            </a:r>
            <a:r>
              <a:rPr b="0" sz="1100">
                <a:solidFill>
                  <a:srgbClr val="334155"/>
                </a:solidFill>
              </a:rPr>
              <a:t>For unit-normalized vectors (||u|| = 1, ||v|| = 1), cosine similarity simplifies to pure dot product: cos(theta) = u .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9: SIMILARITY &amp; GEOMETRY  |  SLIDE 19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Worked Numerical Problem: Calculating Cosine Similarity Step-by-Step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[STEP 1: SETUP]  Problem Setup &amp; Vector Representations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Given Documents: </a:t>
            </a:r>
            <a:r>
              <a:rPr b="0" sz="1100">
                <a:solidFill>
                  <a:srgbClr val="334155"/>
                </a:solidFill>
              </a:rPr>
              <a:t>D1: 'AI agents learn AI models'
D2: 'models learn data patterns'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Shared Vocabulary |V| = 6: </a:t>
            </a:r>
            <a:r>
              <a:rPr b="0" sz="1100">
                <a:solidFill>
                  <a:srgbClr val="334155"/>
                </a:solidFill>
              </a:rPr>
              <a:t>Index mapping: [1: 'AI', 2: 'agents', 3: 'learn', 4: 'models', 5: 'data', 6: 'patterns']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Vector d1 (Term Frequency Counts): </a:t>
            </a:r>
            <a:r>
              <a:rPr b="0" sz="1100">
                <a:solidFill>
                  <a:srgbClr val="334155"/>
                </a:solidFill>
              </a:rPr>
              <a:t>d1 = [2, 1, 1, 1, 0, 0]  (AI: 2, agents: 1, learn: 1, models: 1)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Vector d2 (Term Frequency Counts): </a:t>
            </a:r>
            <a:r>
              <a:rPr b="0" sz="1100">
                <a:solidFill>
                  <a:srgbClr val="334155"/>
                </a:solidFill>
              </a:rPr>
              <a:t>d2 = [0, 0, 1, 1, 1, 1]  (learn: 1, models: 1, data: 1, patterns: 1)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Objective: </a:t>
            </a:r>
            <a:r>
              <a:rPr b="0" sz="1100">
                <a:solidFill>
                  <a:srgbClr val="334155"/>
                </a:solidFill>
              </a:rPr>
              <a:t>Calculate the exact cosine similarity cos(theta) between document vectors d1 and d2.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[STEP 2-5: SOLUTION]  Step-by-Step Numerical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2: Calculate Dot Product (d1 . d2): </a:t>
            </a:r>
            <a:r>
              <a:rPr b="0" sz="1100">
                <a:solidFill>
                  <a:srgbClr val="334155"/>
                </a:solidFill>
              </a:rPr>
              <a:t>d1 . d2 = (2*0) + (1*0) + (1*1) + (1*1) + (0*1) + (0*1)
= 0 + 0 + 1 + 1 + 0 + 0 = 2.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3: Calculate L2 Norm ||d1||: </a:t>
            </a:r>
            <a:r>
              <a:rPr b="0" sz="1100">
                <a:solidFill>
                  <a:srgbClr val="334155"/>
                </a:solidFill>
              </a:rPr>
              <a:t>||d1|| = sqrt(2^2 + 1^2 + 1^2 + 1^2 + 0^2 + 0^2)
= sqrt(4 + 1 + 1 + 1) = sqrt(7) approx 2.6458.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4: Calculate L2 Norm ||d2||: </a:t>
            </a:r>
            <a:r>
              <a:rPr b="0" sz="1100">
                <a:solidFill>
                  <a:srgbClr val="334155"/>
                </a:solidFill>
              </a:rPr>
              <a:t>||d2|| = sqrt(0^2 + 0^2 + 1^2 + 1^2 + 1^2 + 1^2)
= sqrt(1 + 1 + 1 + 1) = sqrt(4) = 2.0000.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5: Compute Cosine Ratio: </a:t>
            </a:r>
            <a:r>
              <a:rPr b="0" sz="1100">
                <a:solidFill>
                  <a:srgbClr val="334155"/>
                </a:solidFill>
              </a:rPr>
              <a:t>cos(theta) = 2 / (sqrt(7) * 2) = 1 / sqrt(7) = 1 / 2.6458
approx 0.3780 (37.8% similarity).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Interpretation: </a:t>
            </a:r>
            <a:r>
              <a:rPr b="0" sz="1100">
                <a:solidFill>
                  <a:srgbClr val="334155"/>
                </a:solidFill>
              </a:rPr>
              <a:t>Documents share 2 terms ('learn', 'models') out of 6 vocabulary terms, resulting in a moderate semantic alignment score of 0.378.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10: DISTRIBUTED REPRESENTATIONS  |  SLIDE 20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Word2Vec: Continuous Distributed Semantic Representations (Mikolov 2013)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[ARCHITECTURES]  Distributional Hypothesis &amp;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Firth's Distributional Hypothesis (1957): </a:t>
            </a:r>
            <a:r>
              <a:rPr b="0" sz="1100">
                <a:solidFill>
                  <a:srgbClr val="334155"/>
                </a:solidFill>
              </a:rPr>
              <a:t>"You shall know a word by the company it keeps." Words occurring in similar linguistic contexts share semantic properties.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From Sparse to Dense Vectors: </a:t>
            </a:r>
            <a:r>
              <a:rPr b="0" sz="1100">
                <a:solidFill>
                  <a:srgbClr val="334155"/>
                </a:solidFill>
              </a:rPr>
              <a:t>Replaces sparse |V|-dimensional one-hot vectors with dense, low-dimensional continuous vectors in R^d (d in [100, 300]).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Continuous Bag-of-Words (CBOW): </a:t>
            </a:r>
            <a:r>
              <a:rPr b="0" sz="1100">
                <a:solidFill>
                  <a:srgbClr val="334155"/>
                </a:solidFill>
              </a:rPr>
              <a:t>Predicts target center word w_t given context window words (w_{t-c}, ..., w_{t+c}). Smoother for frequent words, faster training.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Continuous Skip-Gram Architecture: </a:t>
            </a:r>
            <a:r>
              <a:rPr b="0" sz="1100">
                <a:solidFill>
                  <a:srgbClr val="334155"/>
                </a:solidFill>
              </a:rPr>
              <a:t>Predicts surrounding context words given target center word w_t. Superior representation for rare words and smaller datasets.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Sliding Context Window: </a:t>
            </a:r>
            <a:r>
              <a:rPr b="0" sz="1100">
                <a:solidFill>
                  <a:srgbClr val="334155"/>
                </a:solidFill>
              </a:rPr>
              <a:t>A symmetrical window of size c (e.g., c = 5) slides across corpus, generating millions of (center, context) training pairs.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[NEGATIVE SAMPLING]  Negative Sampling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The Softmax Computational Bottleneck: </a:t>
            </a:r>
            <a:r>
              <a:rPr b="0" sz="1100">
                <a:solidFill>
                  <a:srgbClr val="334155"/>
                </a:solidFill>
              </a:rPr>
              <a:t>Full softmax denominator sum_{w' in V} exp(v'_{w'} . v_w) requires computing over all |V| words for every single gradient step: O(|V|).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Negative Sampling (SGNS) Formulation: </a:t>
            </a:r>
            <a:r>
              <a:rPr b="0" sz="1100">
                <a:solidFill>
                  <a:srgbClr val="334155"/>
                </a:solidFill>
              </a:rPr>
              <a:t>Reformulates multi-class prediction into binary logistic regression: Is pair (w, c) a real corpus pair or sampled noise?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SGNS Objective Function: </a:t>
            </a:r>
            <a:r>
              <a:rPr b="0" sz="1100">
                <a:solidFill>
                  <a:srgbClr val="334155"/>
                </a:solidFill>
              </a:rPr>
              <a:t>L = log sigma(v'_c . v_w) + sum_{i=1}^k E_{w_i ~ P_n(w)} [ log sigma(- v'_{w_i} . v_w) ], where k is negative samples (5-20).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Noise Distribution P_n(w): </a:t>
            </a:r>
            <a:r>
              <a:rPr b="0" sz="1100">
                <a:solidFill>
                  <a:srgbClr val="334155"/>
                </a:solidFill>
              </a:rPr>
              <a:t>Unigram distribution raised to the 3/4 power: P_n(w) proportional to U(w)^{0.75}. Balances frequency, boosting selection of rare words.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Hierarchical Softmax Alternative: </a:t>
            </a:r>
            <a:r>
              <a:rPr b="0" sz="1100">
                <a:solidFill>
                  <a:srgbClr val="334155"/>
                </a:solidFill>
              </a:rPr>
              <a:t>Huffman tree structure reducing computation to O(log_2 |V|).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10: DISTRIBUTED REPRESENTATIONS  |  SLIDE 21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GloVe: Global Vectors for Word Representation (Pennington et al. 2014)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[GLOBAL RATIOS]  Global Co-occurrence vs. Local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Bridging Two Major Paradigms: </a:t>
            </a:r>
            <a:r>
              <a:rPr b="0" sz="1100">
                <a:solidFill>
                  <a:srgbClr val="334155"/>
                </a:solidFill>
              </a:rPr>
              <a:t>GloVe combines the benefits of global matrix factorization methods (LSA) with local window-based predictive models (Word2Vec).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Global Co-occurrence Matrix X: </a:t>
            </a:r>
            <a:r>
              <a:rPr b="0" sz="1100">
                <a:solidFill>
                  <a:srgbClr val="334155"/>
                </a:solidFill>
              </a:rPr>
              <a:t>X_{ij} counts how often word j appears in the context of word i across the entire corpus.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Ratio of Co-occurrence Probabilities: </a:t>
            </a:r>
            <a:r>
              <a:rPr b="0" sz="1100">
                <a:solidFill>
                  <a:srgbClr val="334155"/>
                </a:solidFill>
              </a:rPr>
              <a:t>Let P_{ik} = X_{ik} / X_i. The ratio P_{ik} / P_{jk} isolates relevant words from noise.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Ice vs. Steam Canonical Example: </a:t>
            </a:r>
            <a:r>
              <a:rPr b="0" sz="1100">
                <a:solidFill>
                  <a:srgbClr val="334155"/>
                </a:solidFill>
              </a:rPr>
              <a:t>• k = 'solid': P(solid|ice)/P(solid|steam) is very large (~8.9).
• k = 'gas': P(gas|ice)/P(gas|steam) is very small (~0.085).
• k = 'water': Ratio is near 1.0 (equally relevant to both).
• k = 'fashion': Ratio is near 1.0 (equally irrelevant).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[OBJECTIVE &amp; WEIGHTS]  GloVe Objective Function &amp; Weighting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GloVe Log-Bilinear Objective Function: </a:t>
            </a:r>
            <a:r>
              <a:rPr b="0" sz="1100">
                <a:solidFill>
                  <a:srgbClr val="334155"/>
                </a:solidFill>
              </a:rPr>
              <a:t>J = sum_{i,j=1}^V f(X_{ij}) * ( w_i^T * w_tilde_j + b_i + b_tilde_j - log X_{ij} )^2.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Soft Constraints on Dot Product: </a:t>
            </a:r>
            <a:r>
              <a:rPr b="0" sz="1100">
                <a:solidFill>
                  <a:srgbClr val="334155"/>
                </a:solidFill>
              </a:rPr>
              <a:t>Forces dot product of word vectors to approximate log probability of co-occurrence: w_i^T * w_tilde_j approx log(P_{ij}).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Weighting Function f(X_{ij}): </a:t>
            </a:r>
            <a:r>
              <a:rPr b="0" sz="1100">
                <a:solidFill>
                  <a:srgbClr val="334155"/>
                </a:solidFill>
              </a:rPr>
              <a:t>f(x) = (x / x_max)^alpha if x &lt; x_max else 1.0 (typically alpha = 0.75, x_max = 100).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Purpose of Weighting Function: </a:t>
            </a:r>
            <a:r>
              <a:rPr b="0" sz="1100">
                <a:solidFill>
                  <a:srgbClr val="334155"/>
                </a:solidFill>
              </a:rPr>
              <a:t>Prevents rare co-occurrences from dominating noise while preventing ultra-frequent co-occurrences ('the', 'of') from overwhelming model.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Vector Combination: </a:t>
            </a:r>
            <a:r>
              <a:rPr b="0" sz="1100">
                <a:solidFill>
                  <a:srgbClr val="334155"/>
                </a:solidFill>
              </a:rPr>
              <a:t>Final word embedding is typically the sum: W_final = w_i + w_tilde_i, boosting geometric robustness.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11: SEMANTIC OPERATIONS  |  SLIDE 22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Word Vector Properties, Analogies, and Document Similarity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[ANALOGY ARITHMETIC]  Vector Arithmetic &amp; Semantic Analogies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Linear Substructure of Word Vectors: </a:t>
            </a:r>
            <a:r>
              <a:rPr b="0" sz="1100">
                <a:solidFill>
                  <a:srgbClr val="334155"/>
                </a:solidFill>
              </a:rPr>
              <a:t>Semantic and grammatical relationships emerge as consistent displacement vectors in vector space.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Gender &amp; Royalty Analogy: </a:t>
            </a:r>
            <a:r>
              <a:rPr b="0" sz="1100">
                <a:solidFill>
                  <a:srgbClr val="334155"/>
                </a:solidFill>
              </a:rPr>
              <a:t>v('king') - v('man') + v('woman') approx v('queen'). Cosine similarity discovers 'queen' as closest vector.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Capital Cities &amp; Geopolitics: </a:t>
            </a:r>
            <a:r>
              <a:rPr b="0" sz="1100">
                <a:solidFill>
                  <a:srgbClr val="334155"/>
                </a:solidFill>
              </a:rPr>
              <a:t>v('Paris') - v('France') + v('Japan') approx v('Tokyo'); v('Rome') - v('Italy') + v('Germany') approx v('Berlin').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Grammatical / Morphological Shifts: </a:t>
            </a:r>
            <a:r>
              <a:rPr b="0" sz="1100">
                <a:solidFill>
                  <a:srgbClr val="334155"/>
                </a:solidFill>
              </a:rPr>
              <a:t>v('walking') - v('walk') + v('swim') approx v('swimming'); v('bigger') - v('big') + v('fast') approx v('faster').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Cosine Neighborhoods: </a:t>
            </a:r>
            <a:r>
              <a:rPr b="0" sz="1100">
                <a:solidFill>
                  <a:srgbClr val="334155"/>
                </a:solidFill>
              </a:rPr>
              <a:t>K-Nearest Neighbors (KNN) in embedding space retrieve synonym clusters and semantic relatives.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[DOCUMENT VECTORS]  Document Embeddings &amp; Semantic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Word Centroid (Average Embedding): </a:t>
            </a:r>
            <a:r>
              <a:rPr b="0" sz="1100">
                <a:solidFill>
                  <a:srgbClr val="334155"/>
                </a:solidFill>
              </a:rPr>
              <a:t>d = (1/|D|) sum_{w in D} v_w. Simple, highly competitive baseline for document representation.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TF-IDF Weighted Word Centroid: </a:t>
            </a:r>
            <a:r>
              <a:rPr b="0" sz="1100">
                <a:solidFill>
                  <a:srgbClr val="334155"/>
                </a:solidFill>
              </a:rPr>
              <a:t>d = sum_{w in D} [ TF-IDF(w) * v_w ] / sum TF-IDF(w). Down-weights stopwords, amplifying core content words.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Word Mover's Distance (WMD): </a:t>
            </a:r>
            <a:r>
              <a:rPr b="0" sz="1100">
                <a:solidFill>
                  <a:srgbClr val="334155"/>
                </a:solidFill>
              </a:rPr>
              <a:t>Formulates document distance as Earth Mover's Distance (transportation problem): minimum cumulative distance words in D1 must travel to reach words in D2.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Doc2Vec (Paragraph Vector - Le &amp; Mikolov): </a:t>
            </a:r>
            <a:r>
              <a:rPr b="0" sz="1100">
                <a:solidFill>
                  <a:srgbClr val="334155"/>
                </a:solidFill>
              </a:rPr>
              <a:t>Distributed Memory (PV-DM) and Distributed BoW (PV-DBOW) learning explicit document-level tokens during training.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Sentence-BERT (Bi-Encoder Embeddings): </a:t>
            </a:r>
            <a:r>
              <a:rPr b="0" sz="1100">
                <a:solidFill>
                  <a:srgbClr val="334155"/>
                </a:solidFill>
              </a:rPr>
              <a:t>Fine-tuned Siamese transformer generating fixed 768-d semantic sentence vectors optimized directly for cosine similarity.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12: SUPERVISED NLP  |  SLIDE 23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Classification: Pipeline, Generative vs. Discriminative, and Naive Bayes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[PIPELINE]  The Text Classification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Definition: </a:t>
            </a:r>
            <a:r>
              <a:rPr b="0" sz="1100">
                <a:solidFill>
                  <a:srgbClr val="334155"/>
                </a:solidFill>
              </a:rPr>
              <a:t>Supervised learning task mapping input text documents x into one or more discrete predefined categories c in C.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Key Industry Applications: </a:t>
            </a:r>
            <a:r>
              <a:rPr b="0" sz="1100">
                <a:solidFill>
                  <a:srgbClr val="334155"/>
                </a:solidFill>
              </a:rPr>
              <a:t>Spam filtering, sentiment analysis, customer ticket routing, toxic speech moderation, legal document discovery.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Stage 1: Preprocessing &amp; Tokenization: </a:t>
            </a:r>
            <a:r>
              <a:rPr b="0" sz="1100">
                <a:solidFill>
                  <a:srgbClr val="334155"/>
                </a:solidFill>
              </a:rPr>
              <a:t>Text cleaning, contraction expansion, tokenization, stopword removal.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Stage 2: Feature Extraction: </a:t>
            </a:r>
            <a:r>
              <a:rPr b="0" sz="1100">
                <a:solidFill>
                  <a:srgbClr val="334155"/>
                </a:solidFill>
              </a:rPr>
              <a:t>Transforming text into numerical features via BoW, TF-IDF, N-grams, or dense pretrained embeddings.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Stage 3: Classifier Training: </a:t>
            </a:r>
            <a:r>
              <a:rPr b="0" sz="1100">
                <a:solidFill>
                  <a:srgbClr val="334155"/>
                </a:solidFill>
              </a:rPr>
              <a:t>Optimizing decision boundaries using labeled training examples (x_i, c_i).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[NAIVE BAYES]  Multinomial Naive Bayes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Bayes' Rule Formulation: </a:t>
            </a:r>
            <a:r>
              <a:rPr b="0" sz="1100">
                <a:solidFill>
                  <a:srgbClr val="334155"/>
                </a:solidFill>
              </a:rPr>
              <a:t>P(c | d) = [ P(c) * P(d | c) ] / P(d). Class c* = argmax_{c in C} P(c) * P(d | c).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Conditional Independence Assumption: </a:t>
            </a:r>
            <a:r>
              <a:rPr b="0" sz="1100">
                <a:solidFill>
                  <a:srgbClr val="334155"/>
                </a:solidFill>
              </a:rPr>
              <a:t>Assumes all words w_i are conditionally independent given class c: P(d | c) = prod_{i=1}^n P(w_i | c).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Class Prior Probability P(c): </a:t>
            </a:r>
            <a:r>
              <a:rPr b="0" sz="1100">
                <a:solidFill>
                  <a:srgbClr val="334155"/>
                </a:solidFill>
              </a:rPr>
              <a:t>P(c) = Count(docs in class c) / Total documents.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Smoothed Likelihood Estimation: </a:t>
            </a:r>
            <a:r>
              <a:rPr b="0" sz="1100">
                <a:solidFill>
                  <a:srgbClr val="334155"/>
                </a:solidFill>
              </a:rPr>
              <a:t>P(w_i | c) = [ Count(w_i, c) + alpha ] / [ sum_{w in V} Count(w, c) + alpha * |V| ] (Laplace alpha = 1).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Log-Space Calculation: </a:t>
            </a:r>
            <a:r>
              <a:rPr b="0" sz="1100">
                <a:solidFill>
                  <a:srgbClr val="334155"/>
                </a:solidFill>
              </a:rPr>
              <a:t>c* = argmax_c [ log P(c) + sum_{i=1}^n log P(w_i | c) ]. Prevents floating-point underflow.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12: SUPERVISED NLP  |  SLIDE 24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Discriminative Text Classifiers (SVM, Logistic Regression) &amp; Evaluation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[DISCRIMINATIVE MODELS]  Support Vector Machines &amp;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Linear SVM for Text: </a:t>
            </a:r>
            <a:r>
              <a:rPr b="0" sz="1100">
                <a:solidFill>
                  <a:srgbClr val="334155"/>
                </a:solidFill>
              </a:rPr>
              <a:t>Finds maximum-margin hyperplane w^T x + b = 0 separating classes. Highly effective in high-dimensional sparse text spaces without overfitting.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Hinge Loss &amp; Regularization: </a:t>
            </a:r>
            <a:r>
              <a:rPr b="0" sz="1100">
                <a:solidFill>
                  <a:srgbClr val="334155"/>
                </a:solidFill>
              </a:rPr>
              <a:t>L = max(0, 1 - y_i(w^T x_i + b)) + lambda ||w||_2^2. Linear kernel is almost universally preferred over RBF in text.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Logistic Regression (Log-Linear): </a:t>
            </a:r>
            <a:r>
              <a:rPr b="0" sz="1100">
                <a:solidFill>
                  <a:srgbClr val="334155"/>
                </a:solidFill>
              </a:rPr>
              <a:t>Models posterior probability directly via sigmoid P(y=1|x) = 1 / (1 + exp(-w^T x)). Provides calibrated probability scores.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L1 vs. L2 Feature Regularization: </a:t>
            </a:r>
            <a:r>
              <a:rPr b="0" sz="1100">
                <a:solidFill>
                  <a:srgbClr val="334155"/>
                </a:solidFill>
              </a:rPr>
              <a:t>L1 (Lasso) drives non-informative word weights to exact 0, performing automatic feature selection; L2 (Ridge) prevents weight explosion.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Pretrained Fine-Tuning (BERT/RoBERTa): </a:t>
            </a:r>
            <a:r>
              <a:rPr b="0" sz="1100">
                <a:solidFill>
                  <a:srgbClr val="334155"/>
                </a:solidFill>
              </a:rPr>
              <a:t>Places classification head [CLS] over transformer encoder; fine-tunes all layers with cross-entropy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[EVALUATION METRICS]  Evaluation Metrics: Precision, Recall,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Confusion Matrix: </a:t>
            </a:r>
            <a:r>
              <a:rPr b="0" sz="1100">
                <a:solidFill>
                  <a:srgbClr val="334155"/>
                </a:solidFill>
              </a:rPr>
              <a:t>True Positives (TP), False Positives (FP), True Negatives (TN), False Negatives (FN).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Precision (P): </a:t>
            </a:r>
            <a:r>
              <a:rPr b="0" sz="1100">
                <a:solidFill>
                  <a:srgbClr val="334155"/>
                </a:solidFill>
              </a:rPr>
              <a:t>P = TP / (TP + FP). Out of all documents predicted as class C, how many were actually correct? Crucial for spam filtering.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Recall (R): </a:t>
            </a:r>
            <a:r>
              <a:rPr b="0" sz="1100">
                <a:solidFill>
                  <a:srgbClr val="334155"/>
                </a:solidFill>
              </a:rPr>
              <a:t>R = TP / (TP + FN). Out of all actual documents in class C, how many did the model find? Crucial for legal e-discovery and medical diagnostics.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F1-Score (Harmonic Mean): </a:t>
            </a:r>
            <a:r>
              <a:rPr b="0" sz="1100">
                <a:solidFill>
                  <a:srgbClr val="334155"/>
                </a:solidFill>
              </a:rPr>
              <a:t>F1 = 2 * (Precision * Recall) / (Precision + Recall). Balances precision and recall, especially on imbalanced datasets.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Macro vs. Micro Averaging: </a:t>
            </a:r>
            <a:r>
              <a:rPr b="0" sz="1100">
                <a:solidFill>
                  <a:srgbClr val="334155"/>
                </a:solidFill>
              </a:rPr>
              <a:t>Macro F1 calculates unweighted average across classes (highlights minority classes); Micro F1 pools global TP/FP/FN (dominated by majority).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MODULE 13: SUMMARIZATION &amp; CLUSTERING  |  SLIDE 25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Summarization Paradigms and Unsupervised Document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[SUMMARIZATION]  Extractive vs. Abstractive Summarization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Extractive Summarization: </a:t>
            </a:r>
            <a:r>
              <a:rPr b="0" sz="1100">
                <a:solidFill>
                  <a:srgbClr val="334155"/>
                </a:solidFill>
              </a:rPr>
              <a:t>Identifies, scores, and extracts the most salient verbatim sentences directly from the original source text.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TextRank / LexRank Algorithm: </a:t>
            </a:r>
            <a:r>
              <a:rPr b="0" sz="1100">
                <a:solidFill>
                  <a:srgbClr val="334155"/>
                </a:solidFill>
              </a:rPr>
              <a:t>Constructs a graph where nodes are sentences and edges are weighted by lexical similarity; applies PageRank centrality to rank sentences.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Abstractive Summarization: </a:t>
            </a:r>
            <a:r>
              <a:rPr b="0" sz="1100">
                <a:solidFill>
                  <a:srgbClr val="334155"/>
                </a:solidFill>
              </a:rPr>
              <a:t>Generates novel paraphrased sentences conveying core meaning, mimicking human synthesizers using encoder-decoder transformers (BART, T5).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ROUGE Evaluation Metrics: </a:t>
            </a:r>
            <a:r>
              <a:rPr b="0" sz="1100">
                <a:solidFill>
                  <a:srgbClr val="334155"/>
                </a:solidFill>
              </a:rPr>
              <a:t>• ROUGE-1 / ROUGE-2: Unigram and bigram overlap with human reference summaries.
• ROUGE-L: Longest Common Subsequence (captures sentence-level structure).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Faithfulness &amp; Hallucination: </a:t>
            </a:r>
            <a:r>
              <a:rPr b="0" sz="1100">
                <a:solidFill>
                  <a:srgbClr val="334155"/>
                </a:solidFill>
              </a:rPr>
              <a:t>Primary challenge in abstractive summarization: generating non-factual claims unsupported by source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[CLUSTERING &amp; METRICS]  Text Clustering &amp; Evaluation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Unsupervised Clustering in NLP: </a:t>
            </a:r>
            <a:r>
              <a:rPr b="0" sz="1100">
                <a:solidFill>
                  <a:srgbClr val="334155"/>
                </a:solidFill>
              </a:rPr>
              <a:t>Partitioning unannotated document collections into coherent topical groups without human labels.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K-Means for Text: </a:t>
            </a:r>
            <a:r>
              <a:rPr b="0" sz="1100">
                <a:solidFill>
                  <a:srgbClr val="334155"/>
                </a:solidFill>
              </a:rPr>
              <a:t>Iteratively assigns documents to closest centroid (via cosine similarity) and updates centroids to mean vector. Fast: O(t * k * n * d).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Cluster Cohesion &amp; Silhouette Score: </a:t>
            </a:r>
            <a:r>
              <a:rPr b="0" sz="1100">
                <a:solidFill>
                  <a:srgbClr val="334155"/>
                </a:solidFill>
              </a:rPr>
              <a:t>s(i) = [ b(i) - a(i) ] / max(a(i), b(i)), where a(i) is mean intra-cluster distance and b(i) is mean nearest-cluster distance.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Davies-Bouldin Index (DBI): </a:t>
            </a:r>
            <a:r>
              <a:rPr b="0" sz="1100">
                <a:solidFill>
                  <a:srgbClr val="334155"/>
                </a:solidFill>
              </a:rPr>
              <a:t>Measures ratio of within-cluster spread to between-cluster separation. Lower DBI values indicate tighter, better-separated clusters.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Topic Modeling (LDA): </a:t>
            </a:r>
            <a:r>
              <a:rPr b="0" sz="1100">
                <a:solidFill>
                  <a:srgbClr val="334155"/>
                </a:solidFill>
              </a:rPr>
              <a:t>Latent Dirichlet Allocation: Generative probabilistic model viewing documents as distributions over topics, and topics as distributions over words.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PROJECT ARCHITECTURE  |  SLIDE 26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KnowledgeBot: Deterministic Rule-Based Educational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[CORE PRINCIPLES]  Project Philosophy &amp; Core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Zero Hallucinations Guarantee: </a:t>
            </a:r>
            <a:r>
              <a:rPr b="0" sz="1100">
                <a:solidFill>
                  <a:srgbClr val="334155"/>
                </a:solidFill>
              </a:rPr>
              <a:t>Strictly deterministic rule-based execution. Every single response is generated from verified educational knowledge bases, never fabricated.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Zero Cloud &amp; API Subscriptions: </a:t>
            </a:r>
            <a:r>
              <a:rPr b="0" sz="1100">
                <a:solidFill>
                  <a:srgbClr val="334155"/>
                </a:solidFill>
              </a:rPr>
              <a:t>100% offline, privacy-preserving execution on local hardware. Zero dependency on OpenAI, Anthropic, or external LLM tokens.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Symbolic Verifiability: </a:t>
            </a:r>
            <a:r>
              <a:rPr b="0" sz="1100">
                <a:solidFill>
                  <a:srgbClr val="334155"/>
                </a:solidFill>
              </a:rPr>
              <a:t>Every assistant response exposes an expandable Rule Match Inspector showing the exact intent, regex pattern, and confidence score.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Comprehensive Academic Curriculum: </a:t>
            </a:r>
            <a:r>
              <a:rPr b="0" sz="1100">
                <a:solidFill>
                  <a:srgbClr val="334155"/>
                </a:solidFill>
              </a:rPr>
              <a:t>Curated coverage of 10 complete modules and 117 topics from Scratch fundamentals to cutting-edge Generative AI &amp; MLOps.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Modern Production Engineering: </a:t>
            </a:r>
            <a:r>
              <a:rPr b="0" sz="1100">
                <a:solidFill>
                  <a:srgbClr val="334155"/>
                </a:solidFill>
              </a:rPr>
              <a:t>Structured Python backend, modular JSON data layer, Streamlit frontend, and automated Pytest test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[10 MODULES / 117 TOPICS]  Curriculum Coverage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A: Fundamentals (7 topics): </a:t>
            </a:r>
            <a:r>
              <a:rPr b="0" sz="1100">
                <a:solidFill>
                  <a:srgbClr val="334155"/>
                </a:solidFill>
              </a:rPr>
              <a:t>Scratch block programming, Turing Test, Narrow AI vs AGI vs ASI, Rational Agents, Ethics.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B: Machine Learning (18 topics): </a:t>
            </a:r>
            <a:r>
              <a:rPr b="0" sz="1100">
                <a:solidFill>
                  <a:srgbClr val="334155"/>
                </a:solidFill>
              </a:rPr>
              <a:t>Supervised, Unsupervised, RL, Ensembles (Random Forest, XGBoost), PCA, Feature Engineering.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C: Deep Learning (11 topics): </a:t>
            </a:r>
            <a:r>
              <a:rPr b="0" sz="1100">
                <a:solidFill>
                  <a:srgbClr val="334155"/>
                </a:solidFill>
              </a:rPr>
              <a:t>Perceptrons, Backpropagation, Optimizers (Adam), Activations, BatchNorm/LayerNorm, Transformers.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D: NLP (19 topics): </a:t>
            </a:r>
            <a:r>
              <a:rPr b="0" sz="1100">
                <a:solidFill>
                  <a:srgbClr val="334155"/>
                </a:solidFill>
              </a:rPr>
              <a:t>Tokenization, POS, NER, HMM, N-grams, Word2Vec, GloVe, BERT, Translation, Summarization.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E-G: Vision, KBS, Search (24 topics): </a:t>
            </a:r>
            <a:r>
              <a:rPr b="0" sz="1100">
                <a:solidFill>
                  <a:srgbClr val="334155"/>
                </a:solidFill>
              </a:rPr>
              <a:t>YOLO, ResNet, Expert Systems, Forward/Backward Chaining, A* Search, Minimax, Robotics SLAM.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Module H-J: GenAI, Math, MLOps (38 topics): </a:t>
            </a:r>
            <a:r>
              <a:rPr b="0" sz="1100">
                <a:solidFill>
                  <a:srgbClr val="334155"/>
                </a:solidFill>
              </a:rPr>
              <a:t>Exhaustive GANs, VAEs, Diffusion, Linear Algebra, Calculus, ReAct Agents, MLOps Serving.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ARCHITECTURE  |  SLIDE 27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End-to-End Execution Pipeline: From User Input to Rendered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[STAGE 1]  Stage 1: Ingestion &amp;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1: User Query Ingestion: </a:t>
            </a:r>
            <a:r>
              <a:rPr b="0" sz="1100">
                <a:solidFill>
                  <a:srgbClr val="334155"/>
                </a:solidFill>
              </a:rPr>
              <a:t>Raw string received via Streamlit UI or terminal CLI interface.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2: Normalization: </a:t>
            </a:r>
            <a:r>
              <a:rPr b="0" sz="1100">
                <a:solidFill>
                  <a:srgbClr val="334155"/>
                </a:solidFill>
              </a:rPr>
              <a:t>Whitespace collapse, Unicode NFKD conversion, contraction expansion via regex.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3: Symbol Protection: </a:t>
            </a:r>
            <a:r>
              <a:rPr b="0" sz="1100">
                <a:solidFill>
                  <a:srgbClr val="334155"/>
                </a:solidFill>
              </a:rPr>
              <a:t>Preserves technical compounds like 'A*', 'C++', 'L1/L2' from regex corruption.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4: Tokenization &amp; N-grams: </a:t>
            </a:r>
            <a:r>
              <a:rPr b="0" sz="1100">
                <a:solidFill>
                  <a:srgbClr val="334155"/>
                </a:solidFill>
              </a:rPr>
              <a:t>Extracts unigrams, bigrams, trigrams, and 4-grams for multi-word phrase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[STAGE 2]  Stage 2: Intent &amp; Matcher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5: Intent Classification: </a:t>
            </a:r>
            <a:r>
              <a:rPr b="0" sz="1100">
                <a:solidFill>
                  <a:srgbClr val="334155"/>
                </a:solidFill>
              </a:rPr>
              <a:t>Evaluates 10 deterministic regex rules to identify user action (define, compare, example, etc.).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6: Acronym Pre-scan: </a:t>
            </a:r>
            <a:r>
              <a:rPr b="0" sz="1100">
                <a:solidFill>
                  <a:srgbClr val="334155"/>
                </a:solidFill>
              </a:rPr>
              <a:t>Evaluates boundary-isolated acronyms (GAN, CNN, RNN, SVM, YOLO, RAG) with exact precedence.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7: Multi-tier Topic Match: </a:t>
            </a:r>
            <a:r>
              <a:rPr b="0" sz="1100">
                <a:solidFill>
                  <a:srgbClr val="334155"/>
                </a:solidFill>
              </a:rPr>
              <a:t>Checks exact aliases, stemmed tokens, and keyword set intersections against 117 topics.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8: Context Resolution: </a:t>
            </a:r>
            <a:r>
              <a:rPr b="0" sz="1100">
                <a:solidFill>
                  <a:srgbClr val="334155"/>
                </a:solidFill>
              </a:rPr>
              <a:t>Resolves pronouns ('it', 'its', 'example') against conversation history session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[STAGE 3]  Stage 3: Response &amp;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2834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9: Template Assembly: </a:t>
            </a:r>
            <a:r>
              <a:rPr b="0" sz="1100">
                <a:solidFill>
                  <a:srgbClr val="334155"/>
                </a:solidFill>
              </a:rPr>
              <a:t>Retrieves structured topic records and populates definition, explanation, example, math formula.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10: Comparison Engine: </a:t>
            </a:r>
            <a:r>
              <a:rPr b="0" sz="1100">
                <a:solidFill>
                  <a:srgbClr val="334155"/>
                </a:solidFill>
              </a:rPr>
              <a:t>Extracts dual entities and synthesizes structured markdown comparison table.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11: Follow-up Suggestions: </a:t>
            </a:r>
            <a:r>
              <a:rPr b="0" sz="1100">
                <a:solidFill>
                  <a:srgbClr val="334155"/>
                </a:solidFill>
              </a:rPr>
              <a:t>Generates interactive clickable chips linking to prerequisite or advanced topics.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12: Streamlit Rendering: </a:t>
            </a:r>
            <a:r>
              <a:rPr b="0" sz="1100">
                <a:solidFill>
                  <a:srgbClr val="334155"/>
                </a:solidFill>
              </a:rPr>
              <a:t>Renders chat bubble, KaTeX math formulas, and expandable Rule Match Inspector.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NLP ENGINE DETAILS  |  SLIDE 28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Text Normalization &amp; Tokenization Subsystem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[NORMALIZER.PY]  src/nlp/normalizer.py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Contraction Expansion Dictionary: </a:t>
            </a:r>
            <a:r>
              <a:rPr b="0" sz="1100">
                <a:solidFill>
                  <a:srgbClr val="334155"/>
                </a:solidFill>
              </a:rPr>
              <a:t>Maps 25+ contractions (e.g., "what's" -&gt; "what is", "can't" -&gt; "cannot", "it's" -&gt; "it is") using case-insensitive regex boundaries.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Unicode Accent Flattening: </a:t>
            </a:r>
            <a:r>
              <a:rPr b="0" sz="1100">
                <a:solidFill>
                  <a:srgbClr val="334155"/>
                </a:solidFill>
              </a:rPr>
              <a:t>Applies unicodedata.normalize('NFKD', text) and strips non-spacing combining marks (e.g., 'résumé' -&gt; 'resume').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Special Compound Protection: </a:t>
            </a:r>
            <a:r>
              <a:rPr b="0" sz="1100">
                <a:solidFill>
                  <a:srgbClr val="334155"/>
                </a:solidFill>
              </a:rPr>
              <a:t>Temporarily maps tokens like 'A*', 'C++', 'L1/L2' to placeholder keys before punctuation stripping, then restores them: r'\ba\*(?:\s+(?:search|algorithm))?'.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Punctuation &amp; Whitespace Hygiene: </a:t>
            </a:r>
            <a:r>
              <a:rPr b="0" sz="1100">
                <a:solidFill>
                  <a:srgbClr val="334155"/>
                </a:solidFill>
              </a:rPr>
              <a:t>Replaces non-alphanumeric noise with single spaces while preserving valid internal hyphens.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Deterministic Clean Strings: </a:t>
            </a:r>
            <a:r>
              <a:rPr b="0" sz="1100">
                <a:solidFill>
                  <a:srgbClr val="334155"/>
                </a:solidFill>
              </a:rPr>
              <a:t>Outputs sanitized lowercase string guaranteed to match rule patterns reliably.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[TOKENIZER.PY]  src/nlp/tokenizer.py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Deterministic Regex Tokenizer: </a:t>
            </a:r>
            <a:r>
              <a:rPr b="0" sz="1100">
                <a:solidFill>
                  <a:srgbClr val="334155"/>
                </a:solidFill>
              </a:rPr>
              <a:t>Splits normalized text on whitespace and punctuation boundaries using compiled regex: r'[\w\*\+\-]+'.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Stopword Filtering: </a:t>
            </a:r>
            <a:r>
              <a:rPr b="0" sz="1100">
                <a:solidFill>
                  <a:srgbClr val="334155"/>
                </a:solidFill>
              </a:rPr>
              <a:t>Maintains an in-memory set of 120+ English grammatical stopwords; produces both raw tokens and filtered content tokens.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Sliding Window N-gram Extractor: </a:t>
            </a:r>
            <a:r>
              <a:rPr b="0" sz="1100">
                <a:solidFill>
                  <a:srgbClr val="334155"/>
                </a:solidFill>
              </a:rPr>
              <a:t>Generates unigrams, bigrams, trigrams, and 4-grams by sliding window across token list: [tokens[i:i+n] for i in range(len-n+1)].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Significance for Topic Matching: </a:t>
            </a:r>
            <a:r>
              <a:rPr b="0" sz="1100">
                <a:solidFill>
                  <a:srgbClr val="334155"/>
                </a:solidFill>
              </a:rPr>
              <a:t>Multi-word concepts ('generative adversarial networks', 'named entity recognition') match instantly via trigrams/4-grams.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Performance Benchmark: </a:t>
            </a:r>
            <a:r>
              <a:rPr b="0" sz="1100">
                <a:solidFill>
                  <a:srgbClr val="334155"/>
                </a:solidFill>
              </a:rPr>
              <a:t>Completes tokenization and n-gram generation in sub-millisecond execution times (&lt;0.2 ms).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ENGINE DETAILS  |  SLIDE 29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Deterministic Intent Classification Engine: Regex Rules and Priority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[INTENT CLASSES]  Ten Intent Classes &amp; Regex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1. GREETING: </a:t>
            </a:r>
            <a:r>
              <a:rPr b="0" sz="1100">
                <a:solidFill>
                  <a:srgbClr val="334155"/>
                </a:solidFill>
              </a:rPr>
              <a:t>r'\b(hi|hello|hey|greetings|good morning|good evening)\b'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2. GOODBYE: </a:t>
            </a:r>
            <a:r>
              <a:rPr b="0" sz="1100">
                <a:solidFill>
                  <a:srgbClr val="334155"/>
                </a:solidFill>
              </a:rPr>
              <a:t>r'\b(bye|goodbye|see you|exit|quit|farewell)\b'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3. HELP: </a:t>
            </a:r>
            <a:r>
              <a:rPr b="0" sz="1100">
                <a:solidFill>
                  <a:srgbClr val="334155"/>
                </a:solidFill>
              </a:rPr>
              <a:t>r'\b(help|what can you do|how to use|commands|features)\b'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4. LIST_MODULES: </a:t>
            </a:r>
            <a:r>
              <a:rPr b="0" sz="1100">
                <a:solidFill>
                  <a:srgbClr val="334155"/>
                </a:solidFill>
              </a:rPr>
              <a:t>r'\b(modules|curriculum|topics|what do you know|syllabus)\b'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5. COMPARE: </a:t>
            </a:r>
            <a:r>
              <a:rPr b="0" sz="1100">
                <a:solidFill>
                  <a:srgbClr val="334155"/>
                </a:solidFill>
              </a:rPr>
              <a:t>r'\b(difference between|compare|vs|versus|contrast)\b'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6. DEFINE: </a:t>
            </a:r>
            <a:r>
              <a:rPr b="0" sz="1100">
                <a:solidFill>
                  <a:srgbClr val="334155"/>
                </a:solidFill>
              </a:rPr>
              <a:t>r'\b(what is|define|definition of|meaning of)\b'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7. EXPLAIN: </a:t>
            </a:r>
            <a:r>
              <a:rPr b="0" sz="1100">
                <a:solidFill>
                  <a:srgbClr val="334155"/>
                </a:solidFill>
              </a:rPr>
              <a:t>r'\b(explain|tell me about|how does .* work|deep dive)\b'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8. EXAMPLE: </a:t>
            </a:r>
            <a:r>
              <a:rPr b="0" sz="1100">
                <a:solidFill>
                  <a:srgbClr val="334155"/>
                </a:solidFill>
              </a:rPr>
              <a:t>r'\b(example of|give an example|use case|sample code)\b'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9. FORMULA: </a:t>
            </a:r>
            <a:r>
              <a:rPr b="0" sz="1100">
                <a:solidFill>
                  <a:srgbClr val="334155"/>
                </a:solidFill>
              </a:rPr>
              <a:t>r'\b(formula|equation|math|algorithm steps|loss function)\b'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10. UNKNOWN: </a:t>
            </a:r>
            <a:r>
              <a:rPr b="0" sz="1100">
                <a:solidFill>
                  <a:srgbClr val="334155"/>
                </a:solidFill>
              </a:rPr>
              <a:t>Fallback triggered when confidence falls below certainty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[RULE EVALUATION]  Priority Weighting &amp; Rule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Pattern Weighting &amp; Specificity: </a:t>
            </a:r>
            <a:r>
              <a:rPr b="0" sz="1100">
                <a:solidFill>
                  <a:srgbClr val="334155"/>
                </a:solidFill>
              </a:rPr>
              <a:t>Explicit multi-word phrases receive higher confidence scores (1.0) than single keyword triggers (0.7).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Precedence Architecture: </a:t>
            </a:r>
            <a:r>
              <a:rPr b="0" sz="1100">
                <a:solidFill>
                  <a:srgbClr val="334155"/>
                </a:solidFill>
              </a:rPr>
              <a:t>Comparison and Formula intents take precedence over general Explain intents to avoid false generic answers.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Confidence Scoring Metric: </a:t>
            </a:r>
            <a:r>
              <a:rPr b="0" sz="1100">
                <a:solidFill>
                  <a:srgbClr val="334155"/>
                </a:solidFill>
              </a:rPr>
              <a:t>Calculates match length / query length ratio combined with pattern specificity weights.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Zero Machine Learning Stochastics: </a:t>
            </a:r>
            <a:r>
              <a:rPr b="0" sz="1100">
                <a:solidFill>
                  <a:srgbClr val="334155"/>
                </a:solidFill>
              </a:rPr>
              <a:t>No temperature parameters, no floating-point weights, no stochastic drift. 100% repeatable outputs.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Rule Match Audit Trail: </a:t>
            </a:r>
            <a:r>
              <a:rPr b="0" sz="1100">
                <a:solidFill>
                  <a:srgbClr val="334155"/>
                </a:solidFill>
              </a:rPr>
              <a:t>Outputs IntentMatch dataclass containing matched intent name, rule pattern string, and assigned confidence score.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ENGINE DETAILS  |  SLIDE 30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Multi-Tier Topic Matcher and Contextual Conversation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[TOPIC MATCHER]  Multi-Tier Topic Matching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Tier 1: Acronym &amp; Boundary Matching: </a:t>
            </a:r>
            <a:r>
              <a:rPr b="0" sz="1100">
                <a:solidFill>
                  <a:srgbClr val="334155"/>
                </a:solidFill>
              </a:rPr>
              <a:t>Scans pre-compiled regex for ambiguous technical acronyms (GAN, DCGAN, WGAN, VAE, CNN, RNN, SVM, YOLO, RAG, A*).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Preemption Prevention: </a:t>
            </a:r>
            <a:r>
              <a:rPr b="0" sz="1100">
                <a:solidFill>
                  <a:srgbClr val="334155"/>
                </a:solidFill>
              </a:rPr>
              <a:t>Short broad patterns (e.g., '\bai\b', '\bml\b') are placed at the bottom of evaluation to prevent stealing matches from specific terms like 'Python for AI'.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Tier 2: Exact Alias &amp; N-gram Matching: </a:t>
            </a:r>
            <a:r>
              <a:rPr b="0" sz="1100">
                <a:solidFill>
                  <a:srgbClr val="334155"/>
                </a:solidFill>
              </a:rPr>
              <a:t>Compares generated 4-grams, trigrams, and bigrams against 1,000+ topic aliases indexed in lookup map.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Tier 3: Keyword Set Intersection: </a:t>
            </a:r>
            <a:r>
              <a:rPr b="0" sz="1100">
                <a:solidFill>
                  <a:srgbClr val="334155"/>
                </a:solidFill>
              </a:rPr>
              <a:t>Calculates Jaccard overlap between filtered query tokens and curated topic keywords.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Comparison Extraction: </a:t>
            </a:r>
            <a:r>
              <a:rPr b="0" sz="1100">
                <a:solidFill>
                  <a:srgbClr val="334155"/>
                </a:solidFill>
              </a:rPr>
              <a:t>Splits comparison queries via ' vs ', ' and ', ' or ' to resolve two distinct topic entities simultaneously.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[CONTEXT RESOLUTION]  Contextual Pronoun Resolution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The Multi-Turn Conversation Problem: </a:t>
            </a:r>
            <a:r>
              <a:rPr b="0" sz="1100">
                <a:solidFill>
                  <a:srgbClr val="334155"/>
                </a:solidFill>
              </a:rPr>
              <a:t>Users frequently ask follow-ups using pronouns: "What is it?", "Give an example", "What are its limitations?", "Explain its formula".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Session State History Tracking: </a:t>
            </a:r>
            <a:r>
              <a:rPr b="0" sz="1100">
                <a:solidFill>
                  <a:srgbClr val="334155"/>
                </a:solidFill>
              </a:rPr>
              <a:t>ConversationManager stores active topic ID, module ID, and turn stack across user interactions.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Pronoun Detection Regex: </a:t>
            </a:r>
            <a:r>
              <a:rPr b="0" sz="1100">
                <a:solidFill>
                  <a:srgbClr val="334155"/>
                </a:solidFill>
              </a:rPr>
              <a:t>Detects referential terms: r'\b(it|its|this|that|these|the model|the algorithm)\b'.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Contextual Substitution Engine: </a:t>
            </a:r>
            <a:r>
              <a:rPr b="0" sz="1100">
                <a:solidFill>
                  <a:srgbClr val="334155"/>
                </a:solidFill>
              </a:rPr>
              <a:t>If query lacks explicit topic but contains pronoun or follow-up trigger ('example', 'formula'), the engine binds query to last active topic.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Context Indicator Badge: </a:t>
            </a:r>
            <a:r>
              <a:rPr b="0" sz="1100">
                <a:solidFill>
                  <a:srgbClr val="334155"/>
                </a:solidFill>
              </a:rPr>
              <a:t>Displays '[Context Resolved: Topic Name]' badge in Rule Inspector to inform user of antecedent resolution.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DATA ARCHITECTURE  |  SLIDE 31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Modular JSON Knowledge Base: Schema Invariants and Verification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[SCHEMA DEFINITION]  Topic Schema Invariants (knowledge_base/)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id (String): </a:t>
            </a:r>
            <a:r>
              <a:rPr b="0" sz="1100">
                <a:solidFill>
                  <a:srgbClr val="334155"/>
                </a:solidFill>
              </a:rPr>
              <a:t>Unique kebab/snake-case identifier (e.g., 'gan_wgan_gp', 'nlp_ner').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name (String): </a:t>
            </a:r>
            <a:r>
              <a:rPr b="0" sz="1100">
                <a:solidFill>
                  <a:srgbClr val="334155"/>
                </a:solidFill>
              </a:rPr>
              <a:t>Formal pedagogical title with standard acronyms.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category &amp; category_id: </a:t>
            </a:r>
            <a:r>
              <a:rPr b="0" sz="1100">
                <a:solidFill>
                  <a:srgbClr val="334155"/>
                </a:solidFill>
              </a:rPr>
              <a:t>Maps topic directly to one of the 10 academic curriculum modules.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aliases (List[String]): </a:t>
            </a:r>
            <a:r>
              <a:rPr b="0" sz="1100">
                <a:solidFill>
                  <a:srgbClr val="334155"/>
                </a:solidFill>
              </a:rPr>
              <a:t>Extensive list of alternate names, acronyms, and common colloquial phrasing.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keywords (List[String]): </a:t>
            </a:r>
            <a:r>
              <a:rPr b="0" sz="1100">
                <a:solidFill>
                  <a:srgbClr val="334155"/>
                </a:solidFill>
              </a:rPr>
              <a:t>Linguistic tokens for set-overlap scoring.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 &amp; explanation: </a:t>
            </a:r>
            <a:r>
              <a:rPr b="0" sz="1100">
                <a:solidFill>
                  <a:srgbClr val="334155"/>
                </a:solidFill>
              </a:rPr>
              <a:t>Formal textbook definition and detailed architectural explanation.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example (String): </a:t>
            </a:r>
            <a:r>
              <a:rPr b="0" sz="1100">
                <a:solidFill>
                  <a:srgbClr val="334155"/>
                </a:solidFill>
              </a:rPr>
              <a:t>Concrete real-world case study or code snippet.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formula &amp; algorithm_steps: </a:t>
            </a:r>
            <a:r>
              <a:rPr b="0" sz="1100">
                <a:solidFill>
                  <a:srgbClr val="334155"/>
                </a:solidFill>
              </a:rPr>
              <a:t>LaTeX mathematical equations and ordered step-by-step procedures.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[VALIDATION ENGINE]  Startup Validation &amp; Integrity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Automated Schema Verification: </a:t>
            </a:r>
            <a:r>
              <a:rPr b="0" sz="1100">
                <a:solidFill>
                  <a:srgbClr val="334155"/>
                </a:solidFill>
              </a:rPr>
              <a:t>KnowledgeBase loader iterates across all 10 module JSON files during application startup.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Invariant 1: Unique Topic IDs: </a:t>
            </a:r>
            <a:r>
              <a:rPr b="0" sz="1100">
                <a:solidFill>
                  <a:srgbClr val="334155"/>
                </a:solidFill>
              </a:rPr>
              <a:t>Raises fatal exception if duplicate topic IDs exist across any module files.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Invariant 2: Required Field Integrity: </a:t>
            </a:r>
            <a:r>
              <a:rPr b="0" sz="1100">
                <a:solidFill>
                  <a:srgbClr val="334155"/>
                </a:solidFill>
              </a:rPr>
              <a:t>Enforces non-empty strings for definition, explanation, and example across all 117 topics.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Invariant 3: Relational Reference Validity: </a:t>
            </a:r>
            <a:r>
              <a:rPr b="0" sz="1100">
                <a:solidFill>
                  <a:srgbClr val="334155"/>
                </a:solidFill>
              </a:rPr>
              <a:t>Validates that every entry in 'related_topics' points to a legitimately registered topic ID.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Blazing Fast In-Memory Indexing: </a:t>
            </a:r>
            <a:r>
              <a:rPr b="0" sz="1100">
                <a:solidFill>
                  <a:srgbClr val="334155"/>
                </a:solidFill>
              </a:rPr>
              <a:t>Pre-computes lowercase alias maps and module indices in memory for O(1) instant topic lookups.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RESPONSE GENERATION  |  SLIDE 32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Structured Response Composition and the Rule Match Inspector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[TEMPLATES]  Dynamic Response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Definition Template: </a:t>
            </a:r>
            <a:r>
              <a:rPr b="0" sz="1100">
                <a:solidFill>
                  <a:srgbClr val="334155"/>
                </a:solidFill>
              </a:rPr>
              <a:t>Delivers formal definition, category banner, bulleted core principles, and follow-up prompts.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Explanation Template: </a:t>
            </a:r>
            <a:r>
              <a:rPr b="0" sz="1100">
                <a:solidFill>
                  <a:srgbClr val="334155"/>
                </a:solidFill>
              </a:rPr>
              <a:t>Expands on underlying mechanisms, algorithmic workflows, advantages, and limitations.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Comparison Template: </a:t>
            </a:r>
            <a:r>
              <a:rPr b="0" sz="1100">
                <a:solidFill>
                  <a:srgbClr val="334155"/>
                </a:solidFill>
              </a:rPr>
              <a:t>Generates side-by-side Markdown comparison table covering: Category, Primary Paradigm, Input/Representation, Strengths, Weaknesses, Applications.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Formula / Math Template: </a:t>
            </a:r>
            <a:r>
              <a:rPr b="0" sz="1100">
                <a:solidFill>
                  <a:srgbClr val="334155"/>
                </a:solidFill>
              </a:rPr>
              <a:t>Renders clean KaTeX mathematical equations (e.g., Minimax game, Earth Mover's Distance, Bayes Rule) and step-by-step numbered algorithms.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Graceful Fallback Template: </a:t>
            </a:r>
            <a:r>
              <a:rPr b="0" sz="1100">
                <a:solidFill>
                  <a:srgbClr val="334155"/>
                </a:solidFill>
              </a:rPr>
              <a:t>When query is out of bounds, transparently acknowledges scope and suggests 3-5 relevant curriculum topics.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[RULE INSPECTOR]  Rule Match Inspector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Pedagogical Auditability: </a:t>
            </a:r>
            <a:r>
              <a:rPr b="0" sz="1100">
                <a:solidFill>
                  <a:srgbClr val="334155"/>
                </a:solidFill>
              </a:rPr>
              <a:t>Every assistant response features an expandable 'Rule Match Inspector' drawer in the UI.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Audit Metadata Displayed: </a:t>
            </a:r>
            <a:r>
              <a:rPr b="0" sz="1100">
                <a:solidFill>
                  <a:srgbClr val="334155"/>
                </a:solidFill>
              </a:rPr>
              <a:t>• Active User Intent: [e.g., EXPLAIN]
• Matched Regex Rule: [e.g., r'\b(explain|tell me about)\b']
• Matched Topic ID: [e.g., gan_dcgan]
• Match Confidence: [e.g., 0.95 / 1.0]
• Context Resolved: [True/False].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Educational Benefit: </a:t>
            </a:r>
            <a:r>
              <a:rPr b="0" sz="1100">
                <a:solidFill>
                  <a:srgbClr val="334155"/>
                </a:solidFill>
              </a:rPr>
              <a:t>Allows students and evaluators to understand the deterministic reasoning path of the chatbot.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Follow-Up Chip Generation: </a:t>
            </a:r>
            <a:r>
              <a:rPr b="0" sz="1100">
                <a:solidFill>
                  <a:srgbClr val="334155"/>
                </a:solidFill>
              </a:rPr>
              <a:t>Dynamically attaches suggested follow-up query chips, encouraging interactive exploratory learning.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FRONTEND ARCHITECTURE  |  SLIDE 33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Streamlit Interactive UI/UX Architecture &amp; Multi-Modal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[DESIGN SYSTEM]  Modern Dark Navy Design System (src/ui/styles.py)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Curated Color Palette: </a:t>
            </a:r>
            <a:r>
              <a:rPr b="0" sz="1100">
                <a:solidFill>
                  <a:srgbClr val="334155"/>
                </a:solidFill>
              </a:rPr>
              <a:t>Sleek Dark Navy theme: Primary Background `#0F172A`, Card Surfaces `#1E293B`, Electric Blue `#3B82F6`, Cyan `#06B6D4`, Emerald `#10B981`.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Typography &amp; Modern Cards: </a:t>
            </a:r>
            <a:r>
              <a:rPr b="0" sz="1100">
                <a:solidFill>
                  <a:srgbClr val="334155"/>
                </a:solidFill>
              </a:rPr>
              <a:t>System fonts with clean line-heights, subtle border glow effects, rounded containers (border-radius 12px), and smooth hover transitions.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Quick-Start Prompt Cards: </a:t>
            </a:r>
            <a:r>
              <a:rPr b="0" sz="1100">
                <a:solidFill>
                  <a:srgbClr val="334155"/>
                </a:solidFill>
              </a:rPr>
              <a:t>Interactive clickable cards on home tab allowing one-click execution of starter queries ('What is AI?', 'Explain GANs', 'Compare CNN vs RNN').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Chat History Export: </a:t>
            </a:r>
            <a:r>
              <a:rPr b="0" sz="1100">
                <a:solidFill>
                  <a:srgbClr val="334155"/>
                </a:solidFill>
              </a:rPr>
              <a:t>Download full conversation transcripts in formatted JSON or Markdown/TXT directly from sidebar.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Responsive Two-Column Layout: </a:t>
            </a:r>
            <a:r>
              <a:rPr b="0" sz="1100">
                <a:solidFill>
                  <a:srgbClr val="334155"/>
                </a:solidFill>
              </a:rPr>
              <a:t>Sidebar module navigator with live topic counters and system health diagnostics.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[DASHBOARD MODES]  Four Integrated Dashboard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1. AI Knowledge Chat Tab: </a:t>
            </a:r>
            <a:r>
              <a:rPr b="0" sz="1100">
                <a:solidFill>
                  <a:srgbClr val="334155"/>
                </a:solidFill>
              </a:rPr>
              <a:t>Full conversational interface with message history, stream simulation, and Rule Match Inspectors.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2. Curriculum Explorer Tab: </a:t>
            </a:r>
            <a:r>
              <a:rPr b="0" sz="1100">
                <a:solidFill>
                  <a:srgbClr val="334155"/>
                </a:solidFill>
              </a:rPr>
              <a:t>Directory browser filtering across all 10 modules and 117 topics with search bar, KaTeX math cards, and algorithm lists.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3. Topic Comparison Tool Tab: </a:t>
            </a:r>
            <a:r>
              <a:rPr b="0" sz="1100">
                <a:solidFill>
                  <a:srgbClr val="334155"/>
                </a:solidFill>
              </a:rPr>
              <a:t>Interactive dual-dropdown tool enabling instant side-by-side comparison tables between any two selected curriculum topics.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4. Interactive AI Quiz Mode Tab: </a:t>
            </a:r>
            <a:r>
              <a:rPr b="0" sz="1100">
                <a:solidFill>
                  <a:srgbClr val="334155"/>
                </a:solidFill>
              </a:rPr>
              <a:t>12 curriculum multiple-choice questions with instant scoring, feedback, and comprehensive pedagogical explanations.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QUALITY ASSURANCE  |  SLIDE 34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Testing Strategy: 46 Automated Tests &amp; Invariants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[46 TESTS (100% PASS)]  Pytest Test Suite Overview (tests/)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test_normalizer.py (7 tests): </a:t>
            </a:r>
            <a:r>
              <a:rPr b="0" sz="1100">
                <a:solidFill>
                  <a:srgbClr val="334155"/>
                </a:solidFill>
              </a:rPr>
              <a:t>Validates contraction expansion, whitespace hygiene, Unicode NFKD accents, and symbol protection ('A*', 'C++').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test_tokenizer.py (5 tests): </a:t>
            </a:r>
            <a:r>
              <a:rPr b="0" sz="1100">
                <a:solidFill>
                  <a:srgbClr val="334155"/>
                </a:solidFill>
              </a:rPr>
              <a:t>Validates compound token preservation, stopword filtering, unigram/bigram/trigram generation order.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test_knowledge_base.py (5 tests): </a:t>
            </a:r>
            <a:r>
              <a:rPr b="0" sz="1100">
                <a:solidFill>
                  <a:srgbClr val="334155"/>
                </a:solidFill>
              </a:rPr>
              <a:t>Enforces 10 modules, 117 topics, zero empty fields, valid search results, and raises errors on malformed JSON or duplicate IDs.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test_intent_classifier.py (9 tests): </a:t>
            </a:r>
            <a:r>
              <a:rPr b="0" sz="1100">
                <a:solidFill>
                  <a:srgbClr val="334155"/>
                </a:solidFill>
              </a:rPr>
              <a:t>Validates deterministic detection of all 10 intents and empty/unknown query fallback.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test_topic_matcher.py (4 tests): </a:t>
            </a:r>
            <a:r>
              <a:rPr b="0" sz="1100">
                <a:solidFill>
                  <a:srgbClr val="334155"/>
                </a:solidFill>
              </a:rPr>
              <a:t>Tests exact aliases, acronym matching, comparison extraction, and unknown topic handling.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test_chatbot_engine.py (16 tests): </a:t>
            </a:r>
            <a:r>
              <a:rPr b="0" sz="1100">
                <a:solidFill>
                  <a:srgbClr val="334155"/>
                </a:solidFill>
              </a:rPr>
              <a:t>Tests end-to-end multi-turn conversations, pronoun resolution, GAN queries, and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[EDGE CASES &amp; QA]  Edge Case &amp; Non-Regression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Unicode &amp; Malformed Strings: </a:t>
            </a:r>
            <a:r>
              <a:rPr b="0" sz="1100">
                <a:solidFill>
                  <a:srgbClr val="334155"/>
                </a:solidFill>
              </a:rPr>
              <a:t>Tests execution against emojis, Japanese characters, non-breaking spaces, and empty/whitespace queries without crashing.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Multi-Turn Contextual Integrity: </a:t>
            </a:r>
            <a:r>
              <a:rPr b="0" sz="1100">
                <a:solidFill>
                  <a:srgbClr val="334155"/>
                </a:solidFill>
              </a:rPr>
              <a:t>Verifies that 'What is it?' correctly inherits active topic from prior conversation turn.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Zero-Hallucination Fallback: </a:t>
            </a:r>
            <a:r>
              <a:rPr b="0" sz="1100">
                <a:solidFill>
                  <a:srgbClr val="334155"/>
                </a:solidFill>
              </a:rPr>
              <a:t>Verifies that out-of-scope queries ('What is the weather?') trigger transparent educational fallbacks without fabricating fake answers.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Regex Non-Preemption Invariant: </a:t>
            </a:r>
            <a:r>
              <a:rPr b="0" sz="1100">
                <a:solidFill>
                  <a:srgbClr val="334155"/>
                </a:solidFill>
              </a:rPr>
              <a:t>Ensures broad patterns ('ai', 'ml') never preempt specific compound terms ('ReAct in AI agents', 'Python for AI').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Execution Speed: </a:t>
            </a:r>
            <a:r>
              <a:rPr b="0" sz="1100">
                <a:solidFill>
                  <a:srgbClr val="334155"/>
                </a:solidFill>
              </a:rPr>
              <a:t>All 46 tests execute in under 2.0 seconds.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DEPLOYMENT &amp; EXECUTION  |  SLIDE 35 OF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Execution Guide, Deployment Workflow, and Git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[LOCAL SETUP GUIDE]  How to Run AI KnowledgeBot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Prerequisites: </a:t>
            </a:r>
            <a:r>
              <a:rPr b="0" sz="1100">
                <a:solidFill>
                  <a:srgbClr val="334155"/>
                </a:solidFill>
              </a:rPr>
              <a:t>Python 3.10+ (tested on Python 3.11, 3.12, 3.13) on Windows, macOS, or Linux.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1: Clone Repository: </a:t>
            </a:r>
            <a:r>
              <a:rPr b="0" sz="1100">
                <a:solidFill>
                  <a:srgbClr val="334155"/>
                </a:solidFill>
              </a:rPr>
              <a:t>git clone https://github.com/YNavaneethReddy2507/Lingo_AI.git
cd Lingo_AI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2: Virtual Environment: </a:t>
            </a:r>
            <a:r>
              <a:rPr b="0" sz="1100">
                <a:solidFill>
                  <a:srgbClr val="334155"/>
                </a:solidFill>
              </a:rPr>
              <a:t>python -m venv .venv
.\.venv\Scripts\Activate.ps1  (or source .venv/bin/activate)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3: Install Dependencies: </a:t>
            </a:r>
            <a:r>
              <a:rPr b="0" sz="1100">
                <a:solidFill>
                  <a:srgbClr val="334155"/>
                </a:solidFill>
              </a:rPr>
              <a:t>pip install -r requirements.txt  (installs streamlit &amp; pytest)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4: Launch Web Dashboard: </a:t>
            </a:r>
            <a:r>
              <a:rPr b="0" sz="1100">
                <a:solidFill>
                  <a:srgbClr val="334155"/>
                </a:solidFill>
              </a:rPr>
              <a:t>streamlit run app.py  -&gt; Opens at http://localhost:8501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5: Launch Terminal CLI: </a:t>
            </a:r>
            <a:r>
              <a:rPr b="0" sz="1100">
                <a:solidFill>
                  <a:srgbClr val="334155"/>
                </a:solidFill>
              </a:rPr>
              <a:t>python -m src.cli  -&gt; Interactive terminal chatbot session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Step 6: Run Automated Tests: </a:t>
            </a:r>
            <a:r>
              <a:rPr b="0" sz="1100">
                <a:solidFill>
                  <a:srgbClr val="334155"/>
                </a:solidFill>
              </a:rPr>
              <a:t>$env:PYTHONIOENCODING="utf-8"; pytest tests/ -v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[PRODUCTION REPO]  Production Git Repository &amp; 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Remote Git Repository: </a:t>
            </a:r>
            <a:r>
              <a:rPr b="0" sz="1100">
                <a:solidFill>
                  <a:srgbClr val="334155"/>
                </a:solidFill>
              </a:rPr>
              <a:t>https://github.com/YNavaneethReddy2507/Lingo_AI.git (Main Branch).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Clean Project Layout: </a:t>
            </a:r>
            <a:r>
              <a:rPr b="0" sz="1100">
                <a:solidFill>
                  <a:srgbClr val="334155"/>
                </a:solidFill>
              </a:rPr>
              <a:t>Adheres to clean architecture separation: src/engine, src/nlp, src/ui, knowledge_base/, tests/, docs/.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Zero Cloud Secret Exposure: </a:t>
            </a:r>
            <a:r>
              <a:rPr b="0" sz="1100">
                <a:solidFill>
                  <a:srgbClr val="334155"/>
                </a:solidFill>
              </a:rPr>
              <a:t>Requires no .env keys, API tokens, or external database credentials.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Full Documentation Suite: </a:t>
            </a:r>
            <a:r>
              <a:rPr b="0" sz="1100">
                <a:solidFill>
                  <a:srgbClr val="334155"/>
                </a:solidFill>
              </a:rPr>
              <a:t>• README.md: Getting started &amp; execution guide.
• docs/AI_CURRICULUM_AUDIT.md: 17-domain audit.
• docs/architecture.md: Pipeline specifications.
• docs/knowledge-base.md: Schema standards.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172A"/>
                </a:solidFill>
              </a:rPr>
              <a:t>• Production Readiness: </a:t>
            </a:r>
            <a:r>
              <a:rPr b="0" sz="1100">
                <a:solidFill>
                  <a:srgbClr val="334155"/>
                </a:solidFill>
              </a:rPr>
              <a:t>Engine is fully deterministic, self-contained, and ready for deployment on Streamlit Community Cloud or Docker.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